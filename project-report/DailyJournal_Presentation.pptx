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D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51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523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3366"/>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EBD01"/>
          </a:solidFill>
          <a:ln w="12700">
            <a:solidFill>
              <a:srgbClr val="FEBD01"/>
            </a:solidFill>
            <a:prstDash val="solid"/>
          </a:ln>
        </p:spPr>
      </p:sp>
      <p:sp>
        <p:nvSpPr>
          <p:cNvPr id="3" name="Shape 1"/>
          <p:cNvSpPr/>
          <p:nvPr/>
        </p:nvSpPr>
        <p:spPr>
          <a:xfrm>
            <a:off x="0" y="5074920"/>
            <a:ext cx="9144000" cy="73152"/>
          </a:xfrm>
          <a:prstGeom prst="rect">
            <a:avLst/>
          </a:prstGeom>
          <a:solidFill>
            <a:srgbClr val="FE4445"/>
          </a:solidFill>
          <a:ln w="12700">
            <a:solidFill>
              <a:srgbClr val="FE4445"/>
            </a:solidFill>
            <a:prstDash val="solid"/>
          </a:ln>
        </p:spPr>
      </p:sp>
      <p:sp>
        <p:nvSpPr>
          <p:cNvPr id="4" name="Shape 2"/>
          <p:cNvSpPr/>
          <p:nvPr/>
        </p:nvSpPr>
        <p:spPr>
          <a:xfrm>
            <a:off x="0" y="73152"/>
            <a:ext cx="109728" cy="5001768"/>
          </a:xfrm>
          <a:prstGeom prst="rect">
            <a:avLst/>
          </a:prstGeom>
          <a:solidFill>
            <a:srgbClr val="FEBD01"/>
          </a:solidFill>
          <a:ln w="12700">
            <a:solidFill>
              <a:srgbClr val="FEBD01"/>
            </a:solidFill>
            <a:prstDash val="solid"/>
          </a:ln>
        </p:spPr>
      </p:sp>
      <p:sp>
        <p:nvSpPr>
          <p:cNvPr id="5" name="Text 3"/>
          <p:cNvSpPr/>
          <p:nvPr/>
        </p:nvSpPr>
        <p:spPr>
          <a:xfrm>
            <a:off x="365760" y="291215"/>
            <a:ext cx="8503920" cy="91440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Daily Journal Application</a:t>
            </a:r>
            <a:endParaRPr lang="en-US" sz="3600" dirty="0"/>
          </a:p>
        </p:txBody>
      </p:sp>
      <p:sp>
        <p:nvSpPr>
          <p:cNvPr id="6" name="Text 4"/>
          <p:cNvSpPr/>
          <p:nvPr/>
        </p:nvSpPr>
        <p:spPr>
          <a:xfrm>
            <a:off x="365760" y="1205615"/>
            <a:ext cx="8503920" cy="420624"/>
          </a:xfrm>
          <a:prstGeom prst="rect">
            <a:avLst/>
          </a:prstGeom>
          <a:noFill/>
          <a:ln/>
        </p:spPr>
        <p:txBody>
          <a:bodyPr wrap="square" rtlCol="0" anchor="ctr"/>
          <a:lstStyle/>
          <a:p>
            <a:pPr marL="0" indent="0">
              <a:buNone/>
            </a:pPr>
            <a:r>
              <a:rPr lang="en-US" sz="1600" i="1" dirty="0">
                <a:solidFill>
                  <a:srgbClr val="FEBD01"/>
                </a:solidFill>
                <a:latin typeface="Arial" pitchFamily="34" charset="0"/>
                <a:ea typeface="Arial" pitchFamily="34" charset="-122"/>
                <a:cs typeface="Arial" pitchFamily="34" charset="-120"/>
              </a:rPr>
              <a:t>Full Stack Web Development — MERN Stack</a:t>
            </a:r>
            <a:endParaRPr lang="en-US" sz="1600" dirty="0"/>
          </a:p>
        </p:txBody>
      </p:sp>
      <p:sp>
        <p:nvSpPr>
          <p:cNvPr id="7" name="Shape 5"/>
          <p:cNvSpPr/>
          <p:nvPr/>
        </p:nvSpPr>
        <p:spPr>
          <a:xfrm>
            <a:off x="365760" y="1708535"/>
            <a:ext cx="8412480" cy="0"/>
          </a:xfrm>
          <a:prstGeom prst="line">
            <a:avLst/>
          </a:prstGeom>
          <a:noFill/>
          <a:ln w="12700">
            <a:solidFill>
              <a:srgbClr val="FEBD01"/>
            </a:solidFill>
            <a:prstDash val="solid"/>
          </a:ln>
        </p:spPr>
      </p:sp>
      <p:sp>
        <p:nvSpPr>
          <p:cNvPr id="8" name="Shape 6"/>
          <p:cNvSpPr/>
          <p:nvPr/>
        </p:nvSpPr>
        <p:spPr>
          <a:xfrm>
            <a:off x="365760" y="1891415"/>
            <a:ext cx="946404" cy="274320"/>
          </a:xfrm>
          <a:prstGeom prst="rect">
            <a:avLst/>
          </a:prstGeom>
          <a:solidFill>
            <a:srgbClr val="1E3F7A"/>
          </a:solidFill>
          <a:ln w="10160">
            <a:solidFill>
              <a:srgbClr val="FEBD01"/>
            </a:solidFill>
            <a:prstDash val="solid"/>
          </a:ln>
        </p:spPr>
      </p:sp>
      <p:sp>
        <p:nvSpPr>
          <p:cNvPr id="9" name="Text 7"/>
          <p:cNvSpPr/>
          <p:nvPr/>
        </p:nvSpPr>
        <p:spPr>
          <a:xfrm>
            <a:off x="411480" y="1891415"/>
            <a:ext cx="891540"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MongoDB</a:t>
            </a:r>
            <a:endParaRPr lang="en-US" sz="950" dirty="0"/>
          </a:p>
        </p:txBody>
      </p:sp>
      <p:sp>
        <p:nvSpPr>
          <p:cNvPr id="10" name="Shape 8"/>
          <p:cNvSpPr/>
          <p:nvPr/>
        </p:nvSpPr>
        <p:spPr>
          <a:xfrm>
            <a:off x="1421892" y="1891415"/>
            <a:ext cx="1234440" cy="274320"/>
          </a:xfrm>
          <a:prstGeom prst="rect">
            <a:avLst/>
          </a:prstGeom>
          <a:solidFill>
            <a:srgbClr val="1E3F7A"/>
          </a:solidFill>
          <a:ln w="10160">
            <a:solidFill>
              <a:srgbClr val="FEBD01"/>
            </a:solidFill>
            <a:prstDash val="solid"/>
          </a:ln>
        </p:spPr>
      </p:sp>
      <p:sp>
        <p:nvSpPr>
          <p:cNvPr id="11" name="Text 9"/>
          <p:cNvSpPr/>
          <p:nvPr/>
        </p:nvSpPr>
        <p:spPr>
          <a:xfrm>
            <a:off x="1467612" y="1891415"/>
            <a:ext cx="1179576"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Express.js</a:t>
            </a:r>
            <a:endParaRPr lang="en-US" sz="950" dirty="0"/>
          </a:p>
        </p:txBody>
      </p:sp>
      <p:sp>
        <p:nvSpPr>
          <p:cNvPr id="12" name="Shape 10"/>
          <p:cNvSpPr/>
          <p:nvPr/>
        </p:nvSpPr>
        <p:spPr>
          <a:xfrm>
            <a:off x="2766060" y="1891415"/>
            <a:ext cx="1042416" cy="274320"/>
          </a:xfrm>
          <a:prstGeom prst="rect">
            <a:avLst/>
          </a:prstGeom>
          <a:solidFill>
            <a:srgbClr val="1E3F7A"/>
          </a:solidFill>
          <a:ln w="10160">
            <a:solidFill>
              <a:srgbClr val="FEBD01"/>
            </a:solidFill>
            <a:prstDash val="solid"/>
          </a:ln>
        </p:spPr>
      </p:sp>
      <p:sp>
        <p:nvSpPr>
          <p:cNvPr id="13" name="Text 11"/>
          <p:cNvSpPr/>
          <p:nvPr/>
        </p:nvSpPr>
        <p:spPr>
          <a:xfrm>
            <a:off x="2811780" y="1891415"/>
            <a:ext cx="987552"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React.js</a:t>
            </a:r>
            <a:endParaRPr lang="en-US" sz="950" dirty="0"/>
          </a:p>
        </p:txBody>
      </p:sp>
      <p:sp>
        <p:nvSpPr>
          <p:cNvPr id="14" name="Shape 12"/>
          <p:cNvSpPr/>
          <p:nvPr/>
        </p:nvSpPr>
        <p:spPr>
          <a:xfrm>
            <a:off x="3918204" y="1891415"/>
            <a:ext cx="946404" cy="274320"/>
          </a:xfrm>
          <a:prstGeom prst="rect">
            <a:avLst/>
          </a:prstGeom>
          <a:solidFill>
            <a:srgbClr val="1E3F7A"/>
          </a:solidFill>
          <a:ln w="10160">
            <a:solidFill>
              <a:srgbClr val="FEBD01"/>
            </a:solidFill>
            <a:prstDash val="solid"/>
          </a:ln>
        </p:spPr>
      </p:sp>
      <p:sp>
        <p:nvSpPr>
          <p:cNvPr id="15" name="Text 13"/>
          <p:cNvSpPr/>
          <p:nvPr/>
        </p:nvSpPr>
        <p:spPr>
          <a:xfrm>
            <a:off x="3963924" y="1891415"/>
            <a:ext cx="891540"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Node.js</a:t>
            </a:r>
            <a:endParaRPr lang="en-US" sz="950" dirty="0"/>
          </a:p>
        </p:txBody>
      </p:sp>
      <p:sp>
        <p:nvSpPr>
          <p:cNvPr id="16" name="Shape 14"/>
          <p:cNvSpPr/>
          <p:nvPr/>
        </p:nvSpPr>
        <p:spPr>
          <a:xfrm>
            <a:off x="365760" y="2275463"/>
            <a:ext cx="1042416" cy="274320"/>
          </a:xfrm>
          <a:prstGeom prst="rect">
            <a:avLst/>
          </a:prstGeom>
          <a:solidFill>
            <a:srgbClr val="1E3F7A"/>
          </a:solidFill>
          <a:ln w="10160">
            <a:solidFill>
              <a:srgbClr val="FEBD01"/>
            </a:solidFill>
            <a:prstDash val="solid"/>
          </a:ln>
        </p:spPr>
      </p:sp>
      <p:sp>
        <p:nvSpPr>
          <p:cNvPr id="17" name="Text 15"/>
          <p:cNvSpPr/>
          <p:nvPr/>
        </p:nvSpPr>
        <p:spPr>
          <a:xfrm>
            <a:off x="411480" y="2275463"/>
            <a:ext cx="987552"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JWT Auth</a:t>
            </a:r>
            <a:endParaRPr lang="en-US" sz="950" dirty="0"/>
          </a:p>
        </p:txBody>
      </p:sp>
      <p:sp>
        <p:nvSpPr>
          <p:cNvPr id="18" name="Shape 16"/>
          <p:cNvSpPr/>
          <p:nvPr/>
        </p:nvSpPr>
        <p:spPr>
          <a:xfrm>
            <a:off x="1517904" y="2275463"/>
            <a:ext cx="850392" cy="274320"/>
          </a:xfrm>
          <a:prstGeom prst="rect">
            <a:avLst/>
          </a:prstGeom>
          <a:solidFill>
            <a:srgbClr val="1E3F7A"/>
          </a:solidFill>
          <a:ln w="10160">
            <a:solidFill>
              <a:srgbClr val="FEBD01"/>
            </a:solidFill>
            <a:prstDash val="solid"/>
          </a:ln>
        </p:spPr>
      </p:sp>
      <p:sp>
        <p:nvSpPr>
          <p:cNvPr id="19" name="Text 17"/>
          <p:cNvSpPr/>
          <p:nvPr/>
        </p:nvSpPr>
        <p:spPr>
          <a:xfrm>
            <a:off x="1563624" y="2275463"/>
            <a:ext cx="795528"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BCrypt</a:t>
            </a:r>
            <a:endParaRPr lang="en-US" sz="950" dirty="0"/>
          </a:p>
        </p:txBody>
      </p:sp>
      <p:sp>
        <p:nvSpPr>
          <p:cNvPr id="20" name="Shape 18"/>
          <p:cNvSpPr/>
          <p:nvPr/>
        </p:nvSpPr>
        <p:spPr>
          <a:xfrm>
            <a:off x="2478024" y="2275463"/>
            <a:ext cx="658368" cy="274320"/>
          </a:xfrm>
          <a:prstGeom prst="rect">
            <a:avLst/>
          </a:prstGeom>
          <a:solidFill>
            <a:srgbClr val="1E3F7A"/>
          </a:solidFill>
          <a:ln w="10160">
            <a:solidFill>
              <a:srgbClr val="FEBD01"/>
            </a:solidFill>
            <a:prstDash val="solid"/>
          </a:ln>
        </p:spPr>
      </p:sp>
      <p:sp>
        <p:nvSpPr>
          <p:cNvPr id="21" name="Text 19"/>
          <p:cNvSpPr/>
          <p:nvPr/>
        </p:nvSpPr>
        <p:spPr>
          <a:xfrm>
            <a:off x="2523744" y="2275463"/>
            <a:ext cx="603504"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Vite</a:t>
            </a:r>
            <a:endParaRPr lang="en-US" sz="950" dirty="0"/>
          </a:p>
        </p:txBody>
      </p:sp>
      <p:sp>
        <p:nvSpPr>
          <p:cNvPr id="22" name="Shape 20"/>
          <p:cNvSpPr/>
          <p:nvPr/>
        </p:nvSpPr>
        <p:spPr>
          <a:xfrm>
            <a:off x="3246120" y="2275463"/>
            <a:ext cx="754380" cy="274320"/>
          </a:xfrm>
          <a:prstGeom prst="rect">
            <a:avLst/>
          </a:prstGeom>
          <a:solidFill>
            <a:srgbClr val="1E3F7A"/>
          </a:solidFill>
          <a:ln w="10160">
            <a:solidFill>
              <a:srgbClr val="FEBD01"/>
            </a:solidFill>
            <a:prstDash val="solid"/>
          </a:ln>
        </p:spPr>
      </p:sp>
      <p:sp>
        <p:nvSpPr>
          <p:cNvPr id="23" name="Text 21"/>
          <p:cNvSpPr/>
          <p:nvPr/>
        </p:nvSpPr>
        <p:spPr>
          <a:xfrm>
            <a:off x="3291840" y="2275463"/>
            <a:ext cx="699516" cy="274320"/>
          </a:xfrm>
          <a:prstGeom prst="rect">
            <a:avLst/>
          </a:prstGeom>
          <a:noFill/>
          <a:ln/>
        </p:spPr>
        <p:txBody>
          <a:bodyPr wrap="square" lIns="0" tIns="0" rIns="0" bIns="0" rtlCol="0" anchor="ctr"/>
          <a:lstStyle/>
          <a:p>
            <a:pPr marL="0" indent="0">
              <a:buNone/>
            </a:pPr>
            <a:r>
              <a:rPr lang="en-US" sz="950" dirty="0">
                <a:solidFill>
                  <a:srgbClr val="FEBD01"/>
                </a:solidFill>
                <a:latin typeface="Arial" pitchFamily="34" charset="0"/>
                <a:ea typeface="Arial" pitchFamily="34" charset="-122"/>
                <a:cs typeface="Arial" pitchFamily="34" charset="-120"/>
              </a:rPr>
              <a:t>Axios</a:t>
            </a:r>
            <a:endParaRPr lang="en-US" sz="950" dirty="0"/>
          </a:p>
        </p:txBody>
      </p:sp>
      <p:sp>
        <p:nvSpPr>
          <p:cNvPr id="24" name="Text 22"/>
          <p:cNvSpPr/>
          <p:nvPr/>
        </p:nvSpPr>
        <p:spPr>
          <a:xfrm>
            <a:off x="365760" y="2805815"/>
            <a:ext cx="5486400" cy="292608"/>
          </a:xfrm>
          <a:prstGeom prst="rect">
            <a:avLst/>
          </a:prstGeom>
          <a:noFill/>
          <a:ln/>
        </p:spPr>
        <p:txBody>
          <a:bodyPr wrap="square" rtlCol="0" anchor="ctr"/>
          <a:lstStyle/>
          <a:p>
            <a:pPr marL="0" indent="0">
              <a:buNone/>
            </a:pPr>
            <a:r>
              <a:rPr lang="en-US" sz="1100" dirty="0">
                <a:solidFill>
                  <a:srgbClr val="8892A4"/>
                </a:solidFill>
                <a:latin typeface="Arial" pitchFamily="34" charset="0"/>
                <a:ea typeface="Arial" pitchFamily="34" charset="-122"/>
                <a:cs typeface="Arial" pitchFamily="34" charset="-120"/>
              </a:rPr>
              <a:t>Category:  Mental Health &amp; Productivity Utility</a:t>
            </a:r>
            <a:endParaRPr lang="en-US" sz="1100" dirty="0"/>
          </a:p>
        </p:txBody>
      </p:sp>
      <p:sp>
        <p:nvSpPr>
          <p:cNvPr id="25" name="Text 23"/>
          <p:cNvSpPr/>
          <p:nvPr/>
        </p:nvSpPr>
        <p:spPr>
          <a:xfrm>
            <a:off x="365760" y="3098423"/>
            <a:ext cx="7315200" cy="292608"/>
          </a:xfrm>
          <a:prstGeom prst="rect">
            <a:avLst/>
          </a:prstGeom>
          <a:noFill/>
          <a:ln/>
        </p:spPr>
        <p:txBody>
          <a:bodyPr wrap="square" rtlCol="0" anchor="ctr"/>
          <a:lstStyle/>
          <a:p>
            <a:pPr marL="0" indent="0">
              <a:buNone/>
            </a:pPr>
            <a:r>
              <a:rPr lang="en-US" sz="1100" dirty="0">
                <a:solidFill>
                  <a:srgbClr val="8892A4"/>
                </a:solidFill>
                <a:latin typeface="Arial" pitchFamily="34" charset="0"/>
                <a:ea typeface="Arial" pitchFamily="34" charset="-122"/>
                <a:cs typeface="Arial" pitchFamily="34" charset="-120"/>
              </a:rPr>
              <a:t>Focus Areas:  Data Privacy  ·  Contextual Analytics  ·  Responsive UI/UX</a:t>
            </a:r>
            <a:endParaRPr lang="en-US" sz="1100" dirty="0"/>
          </a:p>
        </p:txBody>
      </p:sp>
      <p:sp>
        <p:nvSpPr>
          <p:cNvPr id="26" name="Shape 24"/>
          <p:cNvSpPr/>
          <p:nvPr/>
        </p:nvSpPr>
        <p:spPr>
          <a:xfrm>
            <a:off x="5943600" y="3840480"/>
            <a:ext cx="3017520" cy="1051560"/>
          </a:xfrm>
          <a:prstGeom prst="rect">
            <a:avLst/>
          </a:prstGeom>
          <a:solidFill>
            <a:srgbClr val="1E3F7A"/>
          </a:solidFill>
          <a:ln w="10160">
            <a:solidFill>
              <a:srgbClr val="FEBD01"/>
            </a:solidFill>
            <a:prstDash val="solid"/>
          </a:ln>
        </p:spPr>
      </p:sp>
      <p:sp>
        <p:nvSpPr>
          <p:cNvPr id="27" name="Text 25"/>
          <p:cNvSpPr/>
          <p:nvPr/>
        </p:nvSpPr>
        <p:spPr>
          <a:xfrm>
            <a:off x="6080760" y="3931920"/>
            <a:ext cx="2743200" cy="914400"/>
          </a:xfrm>
          <a:prstGeom prst="rect">
            <a:avLst/>
          </a:prstGeom>
          <a:noFill/>
          <a:ln/>
        </p:spPr>
        <p:txBody>
          <a:bodyPr wrap="square" rtlCol="0" anchor="t"/>
          <a:lstStyle/>
          <a:p>
            <a:pPr marL="0" indent="0">
              <a:buNone/>
            </a:pPr>
            <a:r>
              <a:rPr lang="en-US" sz="1050" b="1" dirty="0">
                <a:solidFill>
                  <a:srgbClr val="FEBD01"/>
                </a:solidFill>
              </a:rPr>
              <a:t>B.C.A. Final Year Project
</a:t>
            </a:r>
            <a:r>
              <a:rPr lang="en-US" sz="1000" dirty="0">
                <a:solidFill>
                  <a:srgbClr val="FFFFFF"/>
                </a:solidFill>
              </a:rPr>
              <a:t>SDJ International College, Vesu, Surat
</a:t>
            </a:r>
            <a:r>
              <a:rPr lang="en-US" sz="950" dirty="0">
                <a:solidFill>
                  <a:srgbClr val="8892A4"/>
                </a:solidFill>
              </a:rPr>
              <a:t>Academic Year 2025–26</a:t>
            </a:r>
            <a:endParaRPr lang="en-US" sz="1050" dirty="0"/>
          </a:p>
        </p:txBody>
      </p:sp>
      <p:graphicFrame>
        <p:nvGraphicFramePr>
          <p:cNvPr id="28" name="Table 27"/>
          <p:cNvGraphicFramePr>
            <a:graphicFrameLocks noGrp="1"/>
          </p:cNvGraphicFramePr>
          <p:nvPr>
            <p:extLst>
              <p:ext uri="{D42A27DB-BD31-4B8C-83A1-F6EECF244321}">
                <p14:modId xmlns:p14="http://schemas.microsoft.com/office/powerpoint/2010/main" val="3727799908"/>
              </p:ext>
            </p:extLst>
          </p:nvPr>
        </p:nvGraphicFramePr>
        <p:xfrm>
          <a:off x="385737" y="3521833"/>
          <a:ext cx="5281854" cy="1136892"/>
        </p:xfrm>
        <a:graphic>
          <a:graphicData uri="http://schemas.openxmlformats.org/drawingml/2006/table">
            <a:tbl>
              <a:tblPr firstRow="1" bandRow="1">
                <a:tableStyleId>{00A15C55-8517-42AA-B614-E9B94910E393}</a:tableStyleId>
              </a:tblPr>
              <a:tblGrid>
                <a:gridCol w="1018993">
                  <a:extLst>
                    <a:ext uri="{9D8B030D-6E8A-4147-A177-3AD203B41FA5}">
                      <a16:colId xmlns:a16="http://schemas.microsoft.com/office/drawing/2014/main" val="3985710734"/>
                    </a:ext>
                  </a:extLst>
                </a:gridCol>
                <a:gridCol w="3220279">
                  <a:extLst>
                    <a:ext uri="{9D8B030D-6E8A-4147-A177-3AD203B41FA5}">
                      <a16:colId xmlns:a16="http://schemas.microsoft.com/office/drawing/2014/main" val="3571530128"/>
                    </a:ext>
                  </a:extLst>
                </a:gridCol>
                <a:gridCol w="1042582">
                  <a:extLst>
                    <a:ext uri="{9D8B030D-6E8A-4147-A177-3AD203B41FA5}">
                      <a16:colId xmlns:a16="http://schemas.microsoft.com/office/drawing/2014/main" val="262476466"/>
                    </a:ext>
                  </a:extLst>
                </a:gridCol>
              </a:tblGrid>
              <a:tr h="284223">
                <a:tc>
                  <a:txBody>
                    <a:bodyPr/>
                    <a:lstStyle/>
                    <a:p>
                      <a:r>
                        <a:rPr lang="en-US" sz="1200" dirty="0" smtClean="0">
                          <a:solidFill>
                            <a:schemeClr val="tx1"/>
                          </a:solidFill>
                          <a:latin typeface="Arial" panose="020B0604020202020204" pitchFamily="34" charset="0"/>
                          <a:cs typeface="Arial" panose="020B0604020202020204" pitchFamily="34" charset="0"/>
                        </a:rPr>
                        <a:t>Roll</a:t>
                      </a:r>
                      <a:r>
                        <a:rPr lang="en-US" sz="1200" baseline="0" dirty="0" smtClean="0">
                          <a:solidFill>
                            <a:schemeClr val="tx1"/>
                          </a:solidFill>
                          <a:latin typeface="Arial" panose="020B0604020202020204" pitchFamily="34" charset="0"/>
                          <a:cs typeface="Arial" panose="020B0604020202020204" pitchFamily="34" charset="0"/>
                        </a:rPr>
                        <a:t> no</a:t>
                      </a:r>
                      <a:endParaRPr lang="en-IN" sz="1200" dirty="0">
                        <a:solidFill>
                          <a:schemeClr val="tx1"/>
                        </a:solidFill>
                        <a:latin typeface="Arial" panose="020B0604020202020204" pitchFamily="34" charset="0"/>
                        <a:cs typeface="Arial" panose="020B0604020202020204" pitchFamily="34" charset="0"/>
                      </a:endParaRPr>
                    </a:p>
                  </a:txBody>
                  <a:tcPr/>
                </a:tc>
                <a:tc>
                  <a:txBody>
                    <a:bodyPr/>
                    <a:lstStyle/>
                    <a:p>
                      <a:r>
                        <a:rPr lang="en-US" sz="1200" dirty="0" smtClean="0">
                          <a:solidFill>
                            <a:schemeClr val="tx1"/>
                          </a:solidFill>
                          <a:latin typeface="Arial" panose="020B0604020202020204" pitchFamily="34" charset="0"/>
                          <a:cs typeface="Arial" panose="020B0604020202020204" pitchFamily="34" charset="0"/>
                        </a:rPr>
                        <a:t>Name</a:t>
                      </a:r>
                      <a:endParaRPr lang="en-IN" sz="1200" dirty="0">
                        <a:solidFill>
                          <a:schemeClr val="tx1"/>
                        </a:solidFill>
                        <a:latin typeface="Arial" panose="020B0604020202020204" pitchFamily="34" charset="0"/>
                        <a:cs typeface="Arial" panose="020B0604020202020204" pitchFamily="34" charset="0"/>
                      </a:endParaRPr>
                    </a:p>
                  </a:txBody>
                  <a:tcPr/>
                </a:tc>
                <a:tc>
                  <a:txBody>
                    <a:bodyPr/>
                    <a:lstStyle/>
                    <a:p>
                      <a:r>
                        <a:rPr lang="en-US" sz="1200" dirty="0" smtClean="0">
                          <a:solidFill>
                            <a:schemeClr val="tx1"/>
                          </a:solidFill>
                          <a:latin typeface="Arial" panose="020B0604020202020204" pitchFamily="34" charset="0"/>
                          <a:cs typeface="Arial" panose="020B0604020202020204" pitchFamily="34" charset="0"/>
                        </a:rPr>
                        <a:t>Exam no</a:t>
                      </a:r>
                      <a:endParaRPr lang="en-IN" sz="1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04440399"/>
                  </a:ext>
                </a:extLst>
              </a:tr>
              <a:tr h="284223">
                <a:tc>
                  <a:txBody>
                    <a:bodyPr/>
                    <a:lstStyle/>
                    <a:p>
                      <a:r>
                        <a:rPr lang="en-US" sz="1200" dirty="0" smtClean="0">
                          <a:solidFill>
                            <a:schemeClr val="tx1"/>
                          </a:solidFill>
                          <a:latin typeface="Arial" panose="020B0604020202020204" pitchFamily="34" charset="0"/>
                          <a:cs typeface="Arial" panose="020B0604020202020204" pitchFamily="34" charset="0"/>
                        </a:rPr>
                        <a:t>310</a:t>
                      </a:r>
                      <a:endParaRPr lang="en-IN" sz="1200" dirty="0">
                        <a:solidFill>
                          <a:schemeClr val="tx1"/>
                        </a:solidFill>
                        <a:latin typeface="Arial" panose="020B0604020202020204" pitchFamily="34" charset="0"/>
                        <a:cs typeface="Arial" panose="020B0604020202020204" pitchFamily="34" charset="0"/>
                      </a:endParaRPr>
                    </a:p>
                  </a:txBody>
                  <a:tcPr/>
                </a:tc>
                <a:tc>
                  <a:txBody>
                    <a:bodyPr/>
                    <a:lstStyle/>
                    <a:p>
                      <a:r>
                        <a:rPr lang="en-US" sz="1200" dirty="0" smtClean="0">
                          <a:solidFill>
                            <a:schemeClr val="tx1"/>
                          </a:solidFill>
                          <a:latin typeface="Arial" panose="020B0604020202020204" pitchFamily="34" charset="0"/>
                          <a:cs typeface="Arial" panose="020B0604020202020204" pitchFamily="34" charset="0"/>
                        </a:rPr>
                        <a:t>Rana</a:t>
                      </a:r>
                      <a:r>
                        <a:rPr lang="en-US" sz="1200" baseline="0" dirty="0" smtClean="0">
                          <a:solidFill>
                            <a:schemeClr val="tx1"/>
                          </a:solidFill>
                          <a:latin typeface="Arial" panose="020B0604020202020204" pitchFamily="34" charset="0"/>
                          <a:cs typeface="Arial" panose="020B0604020202020204" pitchFamily="34" charset="0"/>
                        </a:rPr>
                        <a:t> Mehul </a:t>
                      </a:r>
                      <a:r>
                        <a:rPr lang="en-US" sz="1200" baseline="0" dirty="0" err="1" smtClean="0">
                          <a:solidFill>
                            <a:schemeClr val="tx1"/>
                          </a:solidFill>
                          <a:latin typeface="Arial" panose="020B0604020202020204" pitchFamily="34" charset="0"/>
                          <a:cs typeface="Arial" panose="020B0604020202020204" pitchFamily="34" charset="0"/>
                        </a:rPr>
                        <a:t>Chandrakantbhai</a:t>
                      </a:r>
                      <a:endParaRPr lang="en-IN" sz="1200" dirty="0">
                        <a:solidFill>
                          <a:schemeClr val="tx1"/>
                        </a:solidFill>
                        <a:latin typeface="Arial" panose="020B0604020202020204" pitchFamily="34" charset="0"/>
                        <a:cs typeface="Arial" panose="020B0604020202020204" pitchFamily="34" charset="0"/>
                      </a:endParaRPr>
                    </a:p>
                  </a:txBody>
                  <a:tcPr/>
                </a:tc>
                <a:tc>
                  <a:txBody>
                    <a:bodyPr/>
                    <a:lstStyle/>
                    <a:p>
                      <a:r>
                        <a:rPr lang="en-US" sz="1200" dirty="0" smtClean="0">
                          <a:solidFill>
                            <a:schemeClr val="tx1"/>
                          </a:solidFill>
                          <a:latin typeface="Arial" panose="020B0604020202020204" pitchFamily="34" charset="0"/>
                          <a:cs typeface="Arial" panose="020B0604020202020204" pitchFamily="34" charset="0"/>
                        </a:rPr>
                        <a:t>9884</a:t>
                      </a:r>
                      <a:endParaRPr lang="en-IN" sz="1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97796530"/>
                  </a:ext>
                </a:extLst>
              </a:tr>
              <a:tr h="284223">
                <a:tc>
                  <a:txBody>
                    <a:bodyPr/>
                    <a:lstStyle/>
                    <a:p>
                      <a:r>
                        <a:rPr lang="en-US" sz="1200" dirty="0" smtClean="0">
                          <a:solidFill>
                            <a:schemeClr val="tx1"/>
                          </a:solidFill>
                          <a:latin typeface="Arial" panose="020B0604020202020204" pitchFamily="34" charset="0"/>
                          <a:cs typeface="Arial" panose="020B0604020202020204" pitchFamily="34" charset="0"/>
                        </a:rPr>
                        <a:t>037</a:t>
                      </a:r>
                      <a:endParaRPr lang="en-IN" sz="1200" dirty="0">
                        <a:solidFill>
                          <a:schemeClr val="tx1"/>
                        </a:solidFill>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Arial" panose="020B0604020202020204" pitchFamily="34" charset="0"/>
                          <a:cs typeface="Arial" panose="020B0604020202020204" pitchFamily="34" charset="0"/>
                        </a:rPr>
                        <a:t>Agarwal Samarth </a:t>
                      </a:r>
                      <a:r>
                        <a:rPr lang="en-US" sz="1200" dirty="0" err="1" smtClean="0">
                          <a:latin typeface="Arial" panose="020B0604020202020204" pitchFamily="34" charset="0"/>
                          <a:cs typeface="Arial" panose="020B0604020202020204" pitchFamily="34" charset="0"/>
                        </a:rPr>
                        <a:t>Rajkumar</a:t>
                      </a:r>
                      <a:endParaRPr lang="en-IN" sz="1200" dirty="0" smtClean="0">
                        <a:latin typeface="Arial" panose="020B0604020202020204" pitchFamily="34" charset="0"/>
                        <a:cs typeface="Arial" panose="020B0604020202020204" pitchFamily="34" charset="0"/>
                      </a:endParaRPr>
                    </a:p>
                  </a:txBody>
                  <a:tcPr/>
                </a:tc>
                <a:tc>
                  <a:txBody>
                    <a:bodyPr/>
                    <a:lstStyle/>
                    <a:p>
                      <a:r>
                        <a:rPr lang="en-US" sz="1200" dirty="0" smtClean="0">
                          <a:solidFill>
                            <a:schemeClr val="tx1"/>
                          </a:solidFill>
                          <a:latin typeface="Arial" panose="020B0604020202020204" pitchFamily="34" charset="0"/>
                          <a:cs typeface="Arial" panose="020B0604020202020204" pitchFamily="34" charset="0"/>
                        </a:rPr>
                        <a:t>6713</a:t>
                      </a:r>
                      <a:endParaRPr lang="en-IN" sz="1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83291058"/>
                  </a:ext>
                </a:extLst>
              </a:tr>
              <a:tr h="284223">
                <a:tc>
                  <a:txBody>
                    <a:bodyPr/>
                    <a:lstStyle/>
                    <a:p>
                      <a:r>
                        <a:rPr lang="en-US" sz="1200" dirty="0" smtClean="0">
                          <a:solidFill>
                            <a:schemeClr val="tx1"/>
                          </a:solidFill>
                          <a:latin typeface="Arial" panose="020B0604020202020204" pitchFamily="34" charset="0"/>
                          <a:cs typeface="Arial" panose="020B0604020202020204" pitchFamily="34" charset="0"/>
                        </a:rPr>
                        <a:t>372</a:t>
                      </a:r>
                      <a:endParaRPr lang="en-IN" sz="1200" dirty="0">
                        <a:solidFill>
                          <a:schemeClr val="tx1"/>
                        </a:solidFill>
                        <a:latin typeface="Arial" panose="020B0604020202020204" pitchFamily="34" charset="0"/>
                        <a:cs typeface="Arial" panose="020B0604020202020204" pitchFamily="34" charset="0"/>
                      </a:endParaRPr>
                    </a:p>
                  </a:txBody>
                  <a:tcPr/>
                </a:tc>
                <a:tc>
                  <a:txBody>
                    <a:bodyPr/>
                    <a:lstStyle/>
                    <a:p>
                      <a:r>
                        <a:rPr lang="en-US" sz="1200" dirty="0" err="1" smtClean="0">
                          <a:solidFill>
                            <a:schemeClr val="tx1"/>
                          </a:solidFill>
                          <a:latin typeface="Arial" panose="020B0604020202020204" pitchFamily="34" charset="0"/>
                          <a:cs typeface="Arial" panose="020B0604020202020204" pitchFamily="34" charset="0"/>
                        </a:rPr>
                        <a:t>Tivari</a:t>
                      </a:r>
                      <a:r>
                        <a:rPr lang="en-US" sz="1200" dirty="0" smtClean="0">
                          <a:solidFill>
                            <a:schemeClr val="tx1"/>
                          </a:solidFill>
                          <a:latin typeface="Arial" panose="020B0604020202020204" pitchFamily="34" charset="0"/>
                          <a:cs typeface="Arial" panose="020B0604020202020204" pitchFamily="34" charset="0"/>
                        </a:rPr>
                        <a:t> Sani </a:t>
                      </a:r>
                      <a:r>
                        <a:rPr lang="en-US" sz="1200" dirty="0" err="1" smtClean="0">
                          <a:solidFill>
                            <a:schemeClr val="tx1"/>
                          </a:solidFill>
                          <a:latin typeface="Arial" panose="020B0604020202020204" pitchFamily="34" charset="0"/>
                          <a:cs typeface="Arial" panose="020B0604020202020204" pitchFamily="34" charset="0"/>
                        </a:rPr>
                        <a:t>Pappubhai</a:t>
                      </a:r>
                      <a:r>
                        <a:rPr lang="en-US" sz="1200" dirty="0" smtClean="0">
                          <a:solidFill>
                            <a:schemeClr val="tx1"/>
                          </a:solidFill>
                          <a:latin typeface="Arial" panose="020B0604020202020204" pitchFamily="34" charset="0"/>
                          <a:cs typeface="Arial" panose="020B0604020202020204" pitchFamily="34" charset="0"/>
                        </a:rPr>
                        <a:t>.</a:t>
                      </a:r>
                      <a:endParaRPr lang="en-IN" sz="1200" dirty="0">
                        <a:solidFill>
                          <a:schemeClr val="tx1"/>
                        </a:solidFill>
                        <a:latin typeface="Arial" panose="020B0604020202020204" pitchFamily="34" charset="0"/>
                        <a:cs typeface="Arial" panose="020B0604020202020204" pitchFamily="34" charset="0"/>
                      </a:endParaRPr>
                    </a:p>
                  </a:txBody>
                  <a:tcPr/>
                </a:tc>
                <a:tc>
                  <a:txBody>
                    <a:bodyPr/>
                    <a:lstStyle/>
                    <a:p>
                      <a:r>
                        <a:rPr lang="en-US" sz="1200" dirty="0" smtClean="0">
                          <a:solidFill>
                            <a:schemeClr val="tx1"/>
                          </a:solidFill>
                          <a:latin typeface="Arial" panose="020B0604020202020204" pitchFamily="34" charset="0"/>
                          <a:cs typeface="Arial" panose="020B0604020202020204" pitchFamily="34" charset="0"/>
                        </a:rPr>
                        <a:t>7271</a:t>
                      </a:r>
                      <a:endParaRPr lang="en-IN" sz="1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2016965"/>
                  </a:ext>
                </a:extLst>
              </a:tr>
            </a:tbl>
          </a:graphicData>
        </a:graphic>
      </p:graphicFrame>
      <p:sp>
        <p:nvSpPr>
          <p:cNvPr id="29" name="TextBox 28"/>
          <p:cNvSpPr txBox="1"/>
          <p:nvPr/>
        </p:nvSpPr>
        <p:spPr>
          <a:xfrm>
            <a:off x="345252" y="4720186"/>
            <a:ext cx="2249026" cy="276999"/>
          </a:xfrm>
          <a:prstGeom prst="rect">
            <a:avLst/>
          </a:prstGeom>
          <a:noFill/>
        </p:spPr>
        <p:txBody>
          <a:bodyPr wrap="square" rtlCol="0">
            <a:spAutoFit/>
          </a:bodyPr>
          <a:lstStyle/>
          <a:p>
            <a:r>
              <a:rPr lang="en-US" sz="1200" dirty="0" smtClean="0">
                <a:solidFill>
                  <a:srgbClr val="FEBD01"/>
                </a:solidFill>
              </a:rPr>
              <a:t>Guided By: </a:t>
            </a:r>
            <a:r>
              <a:rPr lang="en-US" sz="1200" dirty="0" err="1" smtClean="0">
                <a:solidFill>
                  <a:schemeClr val="bg1"/>
                </a:solidFill>
              </a:rPr>
              <a:t>Disha</a:t>
            </a:r>
            <a:r>
              <a:rPr lang="en-US" sz="1200" dirty="0" smtClean="0">
                <a:solidFill>
                  <a:schemeClr val="bg1"/>
                </a:solidFill>
              </a:rPr>
              <a:t> </a:t>
            </a:r>
            <a:r>
              <a:rPr lang="en-US" sz="1200" dirty="0" err="1" smtClean="0">
                <a:solidFill>
                  <a:schemeClr val="bg1"/>
                </a:solidFill>
              </a:rPr>
              <a:t>Bhenswala</a:t>
            </a:r>
            <a:endParaRPr lang="en-IN" sz="1200" dirty="0">
              <a:solidFill>
                <a:schemeClr val="bg1"/>
              </a:solidFill>
            </a:endParaRPr>
          </a:p>
        </p:txBody>
      </p:sp>
      <p:pic>
        <p:nvPicPr>
          <p:cNvPr id="30" name="Picture 29" descr="SDJIC: Best College in Surat | Private College for IT(BCA, MSc.CA),  Commerce(BCOM, MCOM) &amp; Management (BBA, MMS)"/>
          <p:cNvPicPr/>
          <p:nvPr/>
        </p:nvPicPr>
        <p:blipFill>
          <a:blip r:embed="rId3">
            <a:extLst>
              <a:ext uri="{28A0092B-C50C-407E-A947-70E740481C1C}">
                <a14:useLocalDpi xmlns:a14="http://schemas.microsoft.com/office/drawing/2010/main" val="0"/>
              </a:ext>
            </a:extLst>
          </a:blip>
          <a:srcRect/>
          <a:stretch>
            <a:fillRect/>
          </a:stretch>
        </p:blipFill>
        <p:spPr bwMode="auto">
          <a:xfrm>
            <a:off x="7760473" y="4537224"/>
            <a:ext cx="1132067" cy="297504"/>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Problem Statement &amp; Motivation</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4206240" cy="3986784"/>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8" name="Shape 6"/>
          <p:cNvSpPr/>
          <p:nvPr/>
        </p:nvSpPr>
        <p:spPr>
          <a:xfrm>
            <a:off x="292608" y="822960"/>
            <a:ext cx="54864" cy="274320"/>
          </a:xfrm>
          <a:prstGeom prst="rect">
            <a:avLst/>
          </a:prstGeom>
          <a:solidFill>
            <a:srgbClr val="FEBD01"/>
          </a:solidFill>
          <a:ln w="12700">
            <a:solidFill>
              <a:srgbClr val="FEBD01"/>
            </a:solidFill>
            <a:prstDash val="solid"/>
          </a:ln>
        </p:spPr>
      </p:sp>
      <p:sp>
        <p:nvSpPr>
          <p:cNvPr id="9" name="Text 7"/>
          <p:cNvSpPr/>
          <p:nvPr/>
        </p:nvSpPr>
        <p:spPr>
          <a:xfrm>
            <a:off x="420624" y="822960"/>
            <a:ext cx="3200400" cy="27432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The Gap in Existing Solutions</a:t>
            </a:r>
            <a:endParaRPr lang="en-US" sz="1100" dirty="0"/>
          </a:p>
        </p:txBody>
      </p:sp>
      <p:sp>
        <p:nvSpPr>
          <p:cNvPr id="10" name="Shape 8"/>
          <p:cNvSpPr/>
          <p:nvPr/>
        </p:nvSpPr>
        <p:spPr>
          <a:xfrm>
            <a:off x="274320" y="1115568"/>
            <a:ext cx="4059936" cy="804672"/>
          </a:xfrm>
          <a:prstGeom prst="rect">
            <a:avLst/>
          </a:prstGeom>
          <a:solidFill>
            <a:srgbClr val="F5F6FA"/>
          </a:solidFill>
          <a:ln w="7620">
            <a:solidFill>
              <a:srgbClr val="D0D5DD"/>
            </a:solidFill>
            <a:prstDash val="solid"/>
          </a:ln>
        </p:spPr>
      </p:sp>
      <p:sp>
        <p:nvSpPr>
          <p:cNvPr id="11" name="Shape 9"/>
          <p:cNvSpPr/>
          <p:nvPr/>
        </p:nvSpPr>
        <p:spPr>
          <a:xfrm>
            <a:off x="274320" y="1115568"/>
            <a:ext cx="54864" cy="804672"/>
          </a:xfrm>
          <a:prstGeom prst="rect">
            <a:avLst/>
          </a:prstGeom>
          <a:solidFill>
            <a:srgbClr val="FE4445"/>
          </a:solidFill>
          <a:ln w="12700">
            <a:solidFill>
              <a:srgbClr val="FE4445"/>
            </a:solidFill>
            <a:prstDash val="solid"/>
          </a:ln>
        </p:spPr>
      </p:sp>
      <p:sp>
        <p:nvSpPr>
          <p:cNvPr id="12" name="Text 10"/>
          <p:cNvSpPr/>
          <p:nvPr/>
        </p:nvSpPr>
        <p:spPr>
          <a:xfrm>
            <a:off x="402336" y="1170432"/>
            <a:ext cx="3749040" cy="274320"/>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Pen &amp; Paper Journals</a:t>
            </a:r>
            <a:endParaRPr lang="en-US" sz="1000" dirty="0"/>
          </a:p>
        </p:txBody>
      </p:sp>
      <p:sp>
        <p:nvSpPr>
          <p:cNvPr id="13" name="Text 11"/>
          <p:cNvSpPr/>
          <p:nvPr/>
        </p:nvSpPr>
        <p:spPr>
          <a:xfrm>
            <a:off x="402336" y="1444752"/>
            <a:ext cx="3749040" cy="420624"/>
          </a:xfrm>
          <a:prstGeom prst="rect">
            <a:avLst/>
          </a:prstGeom>
          <a:noFill/>
          <a:ln/>
        </p:spPr>
        <p:txBody>
          <a:bodyPr wrap="square" rtlCol="0" anchor="ctr"/>
          <a:lstStyle/>
          <a:p>
            <a:pPr marL="0" indent="0">
              <a:buNone/>
            </a:pPr>
            <a:r>
              <a:rPr lang="en-US" sz="900" dirty="0">
                <a:solidFill>
                  <a:srgbClr val="555555"/>
                </a:solidFill>
                <a:latin typeface="Arial" pitchFamily="34" charset="0"/>
                <a:ea typeface="Arial" pitchFamily="34" charset="-122"/>
                <a:cs typeface="Arial" pitchFamily="34" charset="-120"/>
              </a:rPr>
              <a:t>Easily lost, cannot be searched, zero analytics, no security if found by others.</a:t>
            </a:r>
            <a:endParaRPr lang="en-US" sz="900" dirty="0"/>
          </a:p>
        </p:txBody>
      </p:sp>
      <p:sp>
        <p:nvSpPr>
          <p:cNvPr id="14" name="Shape 12"/>
          <p:cNvSpPr/>
          <p:nvPr/>
        </p:nvSpPr>
        <p:spPr>
          <a:xfrm>
            <a:off x="274320" y="2011680"/>
            <a:ext cx="4059936" cy="804672"/>
          </a:xfrm>
          <a:prstGeom prst="rect">
            <a:avLst/>
          </a:prstGeom>
          <a:solidFill>
            <a:srgbClr val="F5F6FA"/>
          </a:solidFill>
          <a:ln w="7620">
            <a:solidFill>
              <a:srgbClr val="D0D5DD"/>
            </a:solidFill>
            <a:prstDash val="solid"/>
          </a:ln>
        </p:spPr>
      </p:sp>
      <p:sp>
        <p:nvSpPr>
          <p:cNvPr id="15" name="Shape 13"/>
          <p:cNvSpPr/>
          <p:nvPr/>
        </p:nvSpPr>
        <p:spPr>
          <a:xfrm>
            <a:off x="274320" y="2011680"/>
            <a:ext cx="54864" cy="804672"/>
          </a:xfrm>
          <a:prstGeom prst="rect">
            <a:avLst/>
          </a:prstGeom>
          <a:solidFill>
            <a:srgbClr val="FE4445"/>
          </a:solidFill>
          <a:ln w="12700">
            <a:solidFill>
              <a:srgbClr val="FE4445"/>
            </a:solidFill>
            <a:prstDash val="solid"/>
          </a:ln>
        </p:spPr>
      </p:sp>
      <p:sp>
        <p:nvSpPr>
          <p:cNvPr id="16" name="Text 14"/>
          <p:cNvSpPr/>
          <p:nvPr/>
        </p:nvSpPr>
        <p:spPr>
          <a:xfrm>
            <a:off x="402336" y="2066544"/>
            <a:ext cx="3749040" cy="274320"/>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Generic Note Apps</a:t>
            </a:r>
            <a:endParaRPr lang="en-US" sz="1000" dirty="0"/>
          </a:p>
          <a:p>
            <a:pPr marL="0" indent="0">
              <a:buNone/>
            </a:pPr>
            <a:r>
              <a:rPr lang="en-US" sz="1000" b="1" dirty="0">
                <a:solidFill>
                  <a:srgbClr val="193366"/>
                </a:solidFill>
                <a:latin typeface="Arial" pitchFamily="34" charset="0"/>
                <a:ea typeface="Arial" pitchFamily="34" charset="-122"/>
                <a:cs typeface="Arial" pitchFamily="34" charset="-120"/>
              </a:rPr>
              <a:t>(Apple Notes / Google Keep)</a:t>
            </a:r>
            <a:endParaRPr lang="en-US" sz="1000" dirty="0"/>
          </a:p>
        </p:txBody>
      </p:sp>
      <p:sp>
        <p:nvSpPr>
          <p:cNvPr id="17" name="Text 15"/>
          <p:cNvSpPr/>
          <p:nvPr/>
        </p:nvSpPr>
        <p:spPr>
          <a:xfrm>
            <a:off x="402336" y="2340864"/>
            <a:ext cx="3749040" cy="420624"/>
          </a:xfrm>
          <a:prstGeom prst="rect">
            <a:avLst/>
          </a:prstGeom>
          <a:noFill/>
          <a:ln/>
        </p:spPr>
        <p:txBody>
          <a:bodyPr wrap="square" rtlCol="0" anchor="ctr"/>
          <a:lstStyle/>
          <a:p>
            <a:pPr marL="0" indent="0">
              <a:buNone/>
            </a:pPr>
            <a:r>
              <a:rPr lang="en-US" sz="900" dirty="0">
                <a:solidFill>
                  <a:srgbClr val="555555"/>
                </a:solidFill>
                <a:latin typeface="Arial" pitchFamily="34" charset="0"/>
                <a:ea typeface="Arial" pitchFamily="34" charset="-122"/>
                <a:cs typeface="Arial" pitchFamily="34" charset="-120"/>
              </a:rPr>
              <a:t>Lack emotional fields — no mood tracking, day scores, or weather tags for mental health patterns.</a:t>
            </a:r>
            <a:endParaRPr lang="en-US" sz="900" dirty="0"/>
          </a:p>
        </p:txBody>
      </p:sp>
      <p:sp>
        <p:nvSpPr>
          <p:cNvPr id="18" name="Shape 16"/>
          <p:cNvSpPr/>
          <p:nvPr/>
        </p:nvSpPr>
        <p:spPr>
          <a:xfrm>
            <a:off x="274320" y="2907792"/>
            <a:ext cx="4059936" cy="804672"/>
          </a:xfrm>
          <a:prstGeom prst="rect">
            <a:avLst/>
          </a:prstGeom>
          <a:solidFill>
            <a:srgbClr val="F5F6FA"/>
          </a:solidFill>
          <a:ln w="7620">
            <a:solidFill>
              <a:srgbClr val="D0D5DD"/>
            </a:solidFill>
            <a:prstDash val="solid"/>
          </a:ln>
        </p:spPr>
      </p:sp>
      <p:sp>
        <p:nvSpPr>
          <p:cNvPr id="19" name="Shape 17"/>
          <p:cNvSpPr/>
          <p:nvPr/>
        </p:nvSpPr>
        <p:spPr>
          <a:xfrm>
            <a:off x="274320" y="2907792"/>
            <a:ext cx="54864" cy="804672"/>
          </a:xfrm>
          <a:prstGeom prst="rect">
            <a:avLst/>
          </a:prstGeom>
          <a:solidFill>
            <a:srgbClr val="FE4445"/>
          </a:solidFill>
          <a:ln w="12700">
            <a:solidFill>
              <a:srgbClr val="FE4445"/>
            </a:solidFill>
            <a:prstDash val="solid"/>
          </a:ln>
        </p:spPr>
      </p:sp>
      <p:sp>
        <p:nvSpPr>
          <p:cNvPr id="20" name="Text 18"/>
          <p:cNvSpPr/>
          <p:nvPr/>
        </p:nvSpPr>
        <p:spPr>
          <a:xfrm>
            <a:off x="402336" y="2962656"/>
            <a:ext cx="3749040" cy="274320"/>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Complex Habit Trackers</a:t>
            </a:r>
            <a:endParaRPr lang="en-US" sz="1000" dirty="0"/>
          </a:p>
        </p:txBody>
      </p:sp>
      <p:sp>
        <p:nvSpPr>
          <p:cNvPr id="21" name="Text 19"/>
          <p:cNvSpPr/>
          <p:nvPr/>
        </p:nvSpPr>
        <p:spPr>
          <a:xfrm>
            <a:off x="402336" y="3236976"/>
            <a:ext cx="3749040" cy="420624"/>
          </a:xfrm>
          <a:prstGeom prst="rect">
            <a:avLst/>
          </a:prstGeom>
          <a:noFill/>
          <a:ln/>
        </p:spPr>
        <p:txBody>
          <a:bodyPr wrap="square" rtlCol="0" anchor="ctr"/>
          <a:lstStyle/>
          <a:p>
            <a:pPr marL="0" indent="0">
              <a:buNone/>
            </a:pPr>
            <a:r>
              <a:rPr lang="en-US" sz="900" dirty="0">
                <a:solidFill>
                  <a:srgbClr val="555555"/>
                </a:solidFill>
                <a:latin typeface="Arial" pitchFamily="34" charset="0"/>
                <a:ea typeface="Arial" pitchFamily="34" charset="-122"/>
                <a:cs typeface="Arial" pitchFamily="34" charset="-120"/>
              </a:rPr>
              <a:t>Cognitive overload, critical features locked behind paywalls, push dangerous social sharing.</a:t>
            </a:r>
            <a:endParaRPr lang="en-US" sz="900" dirty="0"/>
          </a:p>
        </p:txBody>
      </p:sp>
      <p:sp>
        <p:nvSpPr>
          <p:cNvPr id="22" name="Shape 20"/>
          <p:cNvSpPr/>
          <p:nvPr/>
        </p:nvSpPr>
        <p:spPr>
          <a:xfrm>
            <a:off x="274320" y="3803904"/>
            <a:ext cx="4059936" cy="804672"/>
          </a:xfrm>
          <a:prstGeom prst="rect">
            <a:avLst/>
          </a:prstGeom>
          <a:solidFill>
            <a:srgbClr val="F5F6FA"/>
          </a:solidFill>
          <a:ln w="7620">
            <a:solidFill>
              <a:srgbClr val="D0D5DD"/>
            </a:solidFill>
            <a:prstDash val="solid"/>
          </a:ln>
        </p:spPr>
      </p:sp>
      <p:sp>
        <p:nvSpPr>
          <p:cNvPr id="23" name="Shape 21"/>
          <p:cNvSpPr/>
          <p:nvPr/>
        </p:nvSpPr>
        <p:spPr>
          <a:xfrm>
            <a:off x="274320" y="3803904"/>
            <a:ext cx="54864" cy="804672"/>
          </a:xfrm>
          <a:prstGeom prst="rect">
            <a:avLst/>
          </a:prstGeom>
          <a:solidFill>
            <a:srgbClr val="FE4445"/>
          </a:solidFill>
          <a:ln w="12700">
            <a:solidFill>
              <a:srgbClr val="FE4445"/>
            </a:solidFill>
            <a:prstDash val="solid"/>
          </a:ln>
        </p:spPr>
      </p:sp>
      <p:sp>
        <p:nvSpPr>
          <p:cNvPr id="24" name="Text 22"/>
          <p:cNvSpPr/>
          <p:nvPr/>
        </p:nvSpPr>
        <p:spPr>
          <a:xfrm>
            <a:off x="402336" y="3858768"/>
            <a:ext cx="3749040" cy="274320"/>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Online Journal Apps</a:t>
            </a:r>
            <a:endParaRPr lang="en-US" sz="1000" dirty="0"/>
          </a:p>
        </p:txBody>
      </p:sp>
      <p:sp>
        <p:nvSpPr>
          <p:cNvPr id="25" name="Text 23"/>
          <p:cNvSpPr/>
          <p:nvPr/>
        </p:nvSpPr>
        <p:spPr>
          <a:xfrm>
            <a:off x="402336" y="4133088"/>
            <a:ext cx="3749040" cy="420624"/>
          </a:xfrm>
          <a:prstGeom prst="rect">
            <a:avLst/>
          </a:prstGeom>
          <a:noFill/>
          <a:ln/>
        </p:spPr>
        <p:txBody>
          <a:bodyPr wrap="square" rtlCol="0" anchor="ctr"/>
          <a:lstStyle/>
          <a:p>
            <a:pPr marL="0" indent="0">
              <a:buNone/>
            </a:pPr>
            <a:r>
              <a:rPr lang="en-US" sz="900" dirty="0">
                <a:solidFill>
                  <a:srgbClr val="555555"/>
                </a:solidFill>
                <a:latin typeface="Arial" pitchFamily="34" charset="0"/>
                <a:ea typeface="Arial" pitchFamily="34" charset="-122"/>
                <a:cs typeface="Arial" pitchFamily="34" charset="-120"/>
              </a:rPr>
              <a:t>Users distrust them — no transparency on encryption, shared databases, privacy not guaranteed.</a:t>
            </a:r>
            <a:endParaRPr lang="en-US" sz="900" dirty="0"/>
          </a:p>
        </p:txBody>
      </p:sp>
      <p:sp>
        <p:nvSpPr>
          <p:cNvPr id="26" name="Shape 24"/>
          <p:cNvSpPr/>
          <p:nvPr/>
        </p:nvSpPr>
        <p:spPr>
          <a:xfrm>
            <a:off x="4617720" y="749808"/>
            <a:ext cx="4315968" cy="3986784"/>
          </a:xfrm>
          <a:prstGeom prst="rect">
            <a:avLst/>
          </a:prstGeom>
          <a:solidFill>
            <a:srgbClr val="193366"/>
          </a:solidFill>
          <a:ln w="12700">
            <a:solidFill>
              <a:srgbClr val="193366"/>
            </a:solidFill>
            <a:prstDash val="solid"/>
          </a:ln>
          <a:effectLst>
            <a:outerShdw blurRad="63500" dist="25400" dir="8100000" algn="bl" rotWithShape="0">
              <a:srgbClr val="000000">
                <a:alpha val="8000"/>
              </a:srgbClr>
            </a:outerShdw>
          </a:effectLst>
        </p:spPr>
      </p:sp>
      <p:sp>
        <p:nvSpPr>
          <p:cNvPr id="27" name="Shape 25"/>
          <p:cNvSpPr/>
          <p:nvPr/>
        </p:nvSpPr>
        <p:spPr>
          <a:xfrm>
            <a:off x="4709160" y="822960"/>
            <a:ext cx="54864" cy="274320"/>
          </a:xfrm>
          <a:prstGeom prst="rect">
            <a:avLst/>
          </a:prstGeom>
          <a:solidFill>
            <a:srgbClr val="FEBD01"/>
          </a:solidFill>
          <a:ln w="12700">
            <a:solidFill>
              <a:srgbClr val="FEBD01"/>
            </a:solidFill>
            <a:prstDash val="solid"/>
          </a:ln>
        </p:spPr>
      </p:sp>
      <p:sp>
        <p:nvSpPr>
          <p:cNvPr id="28" name="Text 26"/>
          <p:cNvSpPr/>
          <p:nvPr/>
        </p:nvSpPr>
        <p:spPr>
          <a:xfrm>
            <a:off x="4837176" y="822960"/>
            <a:ext cx="3931920" cy="274320"/>
          </a:xfrm>
          <a:prstGeom prst="rect">
            <a:avLst/>
          </a:prstGeom>
          <a:noFill/>
          <a:ln/>
        </p:spPr>
        <p:txBody>
          <a:bodyPr wrap="square" rtlCol="0" anchor="ctr"/>
          <a:lstStyle/>
          <a:p>
            <a:pPr marL="0" indent="0">
              <a:buNone/>
            </a:pPr>
            <a:r>
              <a:rPr lang="en-US" sz="1100" b="1" dirty="0">
                <a:solidFill>
                  <a:srgbClr val="FEBD01"/>
                </a:solidFill>
                <a:latin typeface="Arial" pitchFamily="34" charset="0"/>
                <a:ea typeface="Arial" pitchFamily="34" charset="-122"/>
                <a:cs typeface="Arial" pitchFamily="34" charset="-120"/>
              </a:rPr>
              <a:t>Our Solution</a:t>
            </a:r>
            <a:endParaRPr lang="en-US" sz="1100" dirty="0"/>
          </a:p>
        </p:txBody>
      </p:sp>
      <p:sp>
        <p:nvSpPr>
          <p:cNvPr id="29" name="Text 27"/>
          <p:cNvSpPr/>
          <p:nvPr/>
        </p:nvSpPr>
        <p:spPr>
          <a:xfrm>
            <a:off x="4754880" y="1115568"/>
            <a:ext cx="4069080" cy="658368"/>
          </a:xfrm>
          <a:prstGeom prst="rect">
            <a:avLst/>
          </a:prstGeom>
          <a:noFill/>
          <a:ln/>
        </p:spPr>
        <p:txBody>
          <a:bodyPr wrap="square" rtlCol="0" anchor="t"/>
          <a:lstStyle/>
          <a:p>
            <a:pPr marL="0" indent="0">
              <a:buNone/>
            </a:pPr>
            <a:r>
              <a:rPr lang="en-US" sz="1050" dirty="0">
                <a:solidFill>
                  <a:srgbClr val="FFFFFF"/>
                </a:solidFill>
                <a:latin typeface="Arial" pitchFamily="34" charset="0"/>
                <a:ea typeface="Arial" pitchFamily="34" charset="-122"/>
                <a:cs typeface="Arial" pitchFamily="34" charset="-120"/>
              </a:rPr>
              <a:t>A secure, private digital sanctuary for tracking thoughts, moods, and mental health patterns — built with enterprise-grade security and rich analytics.</a:t>
            </a:r>
            <a:endParaRPr lang="en-US" sz="1050" dirty="0"/>
          </a:p>
        </p:txBody>
      </p:sp>
      <p:sp>
        <p:nvSpPr>
          <p:cNvPr id="30" name="Shape 28"/>
          <p:cNvSpPr/>
          <p:nvPr/>
        </p:nvSpPr>
        <p:spPr>
          <a:xfrm>
            <a:off x="4736592" y="1865376"/>
            <a:ext cx="73152" cy="73152"/>
          </a:xfrm>
          <a:prstGeom prst="rect">
            <a:avLst/>
          </a:prstGeom>
          <a:solidFill>
            <a:srgbClr val="FEBD01"/>
          </a:solidFill>
          <a:ln w="12700">
            <a:solidFill>
              <a:srgbClr val="FEBD01"/>
            </a:solidFill>
            <a:prstDash val="solid"/>
          </a:ln>
        </p:spPr>
      </p:sp>
      <p:sp>
        <p:nvSpPr>
          <p:cNvPr id="31" name="Text 29"/>
          <p:cNvSpPr/>
          <p:nvPr/>
        </p:nvSpPr>
        <p:spPr>
          <a:xfrm>
            <a:off x="4882896" y="1810512"/>
            <a:ext cx="3931920" cy="402336"/>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BCrypt-hashed passwords — originals never stored</a:t>
            </a:r>
            <a:endParaRPr lang="en-US" sz="1000" dirty="0"/>
          </a:p>
        </p:txBody>
      </p:sp>
      <p:sp>
        <p:nvSpPr>
          <p:cNvPr id="32" name="Shape 30"/>
          <p:cNvSpPr/>
          <p:nvPr/>
        </p:nvSpPr>
        <p:spPr>
          <a:xfrm>
            <a:off x="4736592" y="2286000"/>
            <a:ext cx="73152" cy="73152"/>
          </a:xfrm>
          <a:prstGeom prst="rect">
            <a:avLst/>
          </a:prstGeom>
          <a:solidFill>
            <a:srgbClr val="FEBD01"/>
          </a:solidFill>
          <a:ln w="12700">
            <a:solidFill>
              <a:srgbClr val="FEBD01"/>
            </a:solidFill>
            <a:prstDash val="solid"/>
          </a:ln>
        </p:spPr>
      </p:sp>
      <p:sp>
        <p:nvSpPr>
          <p:cNvPr id="33" name="Text 31"/>
          <p:cNvSpPr/>
          <p:nvPr/>
        </p:nvSpPr>
        <p:spPr>
          <a:xfrm>
            <a:off x="4882896" y="2231136"/>
            <a:ext cx="3931920" cy="402336"/>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JWT stateless sessions — auto-expire after 7 days</a:t>
            </a:r>
            <a:endParaRPr lang="en-US" sz="1000" dirty="0"/>
          </a:p>
        </p:txBody>
      </p:sp>
      <p:sp>
        <p:nvSpPr>
          <p:cNvPr id="34" name="Shape 32"/>
          <p:cNvSpPr/>
          <p:nvPr/>
        </p:nvSpPr>
        <p:spPr>
          <a:xfrm>
            <a:off x="4736592" y="2706624"/>
            <a:ext cx="73152" cy="73152"/>
          </a:xfrm>
          <a:prstGeom prst="rect">
            <a:avLst/>
          </a:prstGeom>
          <a:solidFill>
            <a:srgbClr val="FEBD01"/>
          </a:solidFill>
          <a:ln w="12700">
            <a:solidFill>
              <a:srgbClr val="FEBD01"/>
            </a:solidFill>
            <a:prstDash val="solid"/>
          </a:ln>
        </p:spPr>
      </p:sp>
      <p:sp>
        <p:nvSpPr>
          <p:cNvPr id="35" name="Text 33"/>
          <p:cNvSpPr/>
          <p:nvPr/>
        </p:nvSpPr>
        <p:spPr>
          <a:xfrm>
            <a:off x="4882896" y="2651760"/>
            <a:ext cx="3931920" cy="402336"/>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Mood arrays, Day Score (1-10), Weather tagging</a:t>
            </a:r>
            <a:endParaRPr lang="en-US" sz="1000" dirty="0"/>
          </a:p>
        </p:txBody>
      </p:sp>
      <p:sp>
        <p:nvSpPr>
          <p:cNvPr id="36" name="Shape 34"/>
          <p:cNvSpPr/>
          <p:nvPr/>
        </p:nvSpPr>
        <p:spPr>
          <a:xfrm>
            <a:off x="4736592" y="3127248"/>
            <a:ext cx="73152" cy="73152"/>
          </a:xfrm>
          <a:prstGeom prst="rect">
            <a:avLst/>
          </a:prstGeom>
          <a:solidFill>
            <a:srgbClr val="FEBD01"/>
          </a:solidFill>
          <a:ln w="12700">
            <a:solidFill>
              <a:srgbClr val="FEBD01"/>
            </a:solidFill>
            <a:prstDash val="solid"/>
          </a:ln>
        </p:spPr>
      </p:sp>
      <p:sp>
        <p:nvSpPr>
          <p:cNvPr id="37" name="Text 35"/>
          <p:cNvSpPr/>
          <p:nvPr/>
        </p:nvSpPr>
        <p:spPr>
          <a:xfrm>
            <a:off x="4882896" y="3072384"/>
            <a:ext cx="3931920" cy="402336"/>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Mathematical analytics over lifetime entries</a:t>
            </a:r>
            <a:endParaRPr lang="en-US" sz="1000" dirty="0"/>
          </a:p>
        </p:txBody>
      </p:sp>
      <p:sp>
        <p:nvSpPr>
          <p:cNvPr id="38" name="Shape 36"/>
          <p:cNvSpPr/>
          <p:nvPr/>
        </p:nvSpPr>
        <p:spPr>
          <a:xfrm>
            <a:off x="4736592" y="3547872"/>
            <a:ext cx="73152" cy="73152"/>
          </a:xfrm>
          <a:prstGeom prst="rect">
            <a:avLst/>
          </a:prstGeom>
          <a:solidFill>
            <a:srgbClr val="FEBD01"/>
          </a:solidFill>
          <a:ln w="12700">
            <a:solidFill>
              <a:srgbClr val="FEBD01"/>
            </a:solidFill>
            <a:prstDash val="solid"/>
          </a:ln>
        </p:spPr>
      </p:sp>
      <p:sp>
        <p:nvSpPr>
          <p:cNvPr id="39" name="Text 37"/>
          <p:cNvSpPr/>
          <p:nvPr/>
        </p:nvSpPr>
        <p:spPr>
          <a:xfrm>
            <a:off x="4882896" y="3493008"/>
            <a:ext cx="3931920" cy="402336"/>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Interactive Archive Matrix for 500+ entries</a:t>
            </a:r>
            <a:endParaRPr lang="en-US" sz="1000" dirty="0"/>
          </a:p>
        </p:txBody>
      </p:sp>
      <p:sp>
        <p:nvSpPr>
          <p:cNvPr id="40" name="Shape 38"/>
          <p:cNvSpPr/>
          <p:nvPr/>
        </p:nvSpPr>
        <p:spPr>
          <a:xfrm>
            <a:off x="4736592" y="3968496"/>
            <a:ext cx="73152" cy="73152"/>
          </a:xfrm>
          <a:prstGeom prst="rect">
            <a:avLst/>
          </a:prstGeom>
          <a:solidFill>
            <a:srgbClr val="FEBD01"/>
          </a:solidFill>
          <a:ln w="12700">
            <a:solidFill>
              <a:srgbClr val="FEBD01"/>
            </a:solidFill>
            <a:prstDash val="solid"/>
          </a:ln>
        </p:spPr>
      </p:sp>
      <p:sp>
        <p:nvSpPr>
          <p:cNvPr id="41" name="Text 39"/>
          <p:cNvSpPr/>
          <p:nvPr/>
        </p:nvSpPr>
        <p:spPr>
          <a:xfrm>
            <a:off x="4882896" y="3913632"/>
            <a:ext cx="3931920" cy="402336"/>
          </a:xfrm>
          <a:prstGeom prst="rect">
            <a:avLst/>
          </a:prstGeom>
          <a:noFill/>
          <a:ln/>
        </p:spPr>
        <p:txBody>
          <a:bodyPr wrap="square" rtlCol="0" anchor="ctr"/>
          <a:lstStyle/>
          <a:p>
            <a:pPr marL="0" indent="0">
              <a:buNone/>
            </a:pPr>
            <a:r>
              <a:rPr lang="en-US" sz="1000" dirty="0">
                <a:solidFill>
                  <a:srgbClr val="FFFFFF"/>
                </a:solidFill>
                <a:latin typeface="Arial" pitchFamily="34" charset="0"/>
                <a:ea typeface="Arial" pitchFamily="34" charset="-122"/>
                <a:cs typeface="Arial" pitchFamily="34" charset="-120"/>
              </a:rPr>
              <a:t>Zero social features — 100% private by design</a:t>
            </a:r>
            <a:endParaRPr lang="en-US" sz="1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Technology Stack &amp; Architecture</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2066544" cy="2011680"/>
          </a:xfrm>
          <a:prstGeom prst="rect">
            <a:avLst/>
          </a:prstGeom>
          <a:solidFill>
            <a:srgbClr val="FFFFFF"/>
          </a:solidFill>
          <a:ln w="12700">
            <a:solidFill>
              <a:srgbClr val="193366"/>
            </a:solidFill>
            <a:prstDash val="solid"/>
          </a:ln>
        </p:spPr>
      </p:sp>
      <p:sp>
        <p:nvSpPr>
          <p:cNvPr id="8" name="Shape 6"/>
          <p:cNvSpPr/>
          <p:nvPr/>
        </p:nvSpPr>
        <p:spPr>
          <a:xfrm>
            <a:off x="201168" y="749808"/>
            <a:ext cx="2066544" cy="457200"/>
          </a:xfrm>
          <a:prstGeom prst="rect">
            <a:avLst/>
          </a:prstGeom>
          <a:solidFill>
            <a:srgbClr val="193366"/>
          </a:solidFill>
          <a:ln w="12700">
            <a:solidFill>
              <a:srgbClr val="193366"/>
            </a:solidFill>
            <a:prstDash val="solid"/>
          </a:ln>
        </p:spPr>
      </p:sp>
      <p:sp>
        <p:nvSpPr>
          <p:cNvPr id="9" name="Text 7"/>
          <p:cNvSpPr/>
          <p:nvPr/>
        </p:nvSpPr>
        <p:spPr>
          <a:xfrm>
            <a:off x="292608" y="749808"/>
            <a:ext cx="1929384" cy="274320"/>
          </a:xfrm>
          <a:prstGeom prst="rect">
            <a:avLst/>
          </a:prstGeom>
          <a:noFill/>
          <a:ln/>
        </p:spPr>
        <p:txBody>
          <a:bodyPr wrap="square" lIns="0" tIns="0" rIns="0" bIns="0" rtlCol="0" anchor="ctr"/>
          <a:lstStyle/>
          <a:p>
            <a:pPr marL="0" indent="0">
              <a:buNone/>
            </a:pPr>
            <a:r>
              <a:rPr lang="en-US" sz="1300" b="1" dirty="0">
                <a:solidFill>
                  <a:srgbClr val="FEBD01"/>
                </a:solidFill>
                <a:latin typeface="Arial" pitchFamily="34" charset="0"/>
                <a:ea typeface="Arial" pitchFamily="34" charset="-122"/>
                <a:cs typeface="Arial" pitchFamily="34" charset="-120"/>
              </a:rPr>
              <a:t>MongoDB</a:t>
            </a:r>
            <a:endParaRPr lang="en-US" sz="1300" dirty="0"/>
          </a:p>
        </p:txBody>
      </p:sp>
      <p:sp>
        <p:nvSpPr>
          <p:cNvPr id="10" name="Text 8"/>
          <p:cNvSpPr/>
          <p:nvPr/>
        </p:nvSpPr>
        <p:spPr>
          <a:xfrm>
            <a:off x="292608" y="1024128"/>
            <a:ext cx="1929384" cy="182880"/>
          </a:xfrm>
          <a:prstGeom prst="rect">
            <a:avLst/>
          </a:prstGeom>
          <a:noFill/>
          <a:ln/>
        </p:spPr>
        <p:txBody>
          <a:bodyPr wrap="square" lIns="0" tIns="0" rIns="0" bIns="0" rtlCol="0" anchor="ctr"/>
          <a:lstStyle/>
          <a:p>
            <a:pPr marL="0" indent="0">
              <a:buNone/>
            </a:pPr>
            <a:r>
              <a:rPr lang="en-US" sz="900" dirty="0">
                <a:solidFill>
                  <a:srgbClr val="8892A4"/>
                </a:solidFill>
                <a:latin typeface="Arial" pitchFamily="34" charset="0"/>
                <a:ea typeface="Arial" pitchFamily="34" charset="-122"/>
                <a:cs typeface="Arial" pitchFamily="34" charset="-120"/>
              </a:rPr>
              <a:t>Database Layer</a:t>
            </a:r>
            <a:endParaRPr lang="en-US" sz="900" dirty="0"/>
          </a:p>
        </p:txBody>
      </p:sp>
      <p:sp>
        <p:nvSpPr>
          <p:cNvPr id="11" name="Text 9"/>
          <p:cNvSpPr/>
          <p:nvPr/>
        </p:nvSpPr>
        <p:spPr>
          <a:xfrm>
            <a:off x="292608" y="1261872"/>
            <a:ext cx="1901952" cy="14173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NoSQL BSON documents handle dynamic journal schemas — no rigid NULL columns. Entries can have optional weather, mood arrays, or scores without schema migration.</a:t>
            </a:r>
            <a:endParaRPr lang="en-US" sz="950" dirty="0"/>
          </a:p>
        </p:txBody>
      </p:sp>
      <p:sp>
        <p:nvSpPr>
          <p:cNvPr id="12" name="Shape 10"/>
          <p:cNvSpPr/>
          <p:nvPr/>
        </p:nvSpPr>
        <p:spPr>
          <a:xfrm>
            <a:off x="2340864" y="749808"/>
            <a:ext cx="2066544" cy="2011680"/>
          </a:xfrm>
          <a:prstGeom prst="rect">
            <a:avLst/>
          </a:prstGeom>
          <a:solidFill>
            <a:srgbClr val="FFFFFF"/>
          </a:solidFill>
          <a:ln w="12700">
            <a:solidFill>
              <a:srgbClr val="193366"/>
            </a:solidFill>
            <a:prstDash val="solid"/>
          </a:ln>
        </p:spPr>
      </p:sp>
      <p:sp>
        <p:nvSpPr>
          <p:cNvPr id="13" name="Shape 11"/>
          <p:cNvSpPr/>
          <p:nvPr/>
        </p:nvSpPr>
        <p:spPr>
          <a:xfrm>
            <a:off x="2340864" y="749808"/>
            <a:ext cx="2066544" cy="457200"/>
          </a:xfrm>
          <a:prstGeom prst="rect">
            <a:avLst/>
          </a:prstGeom>
          <a:solidFill>
            <a:srgbClr val="193366"/>
          </a:solidFill>
          <a:ln w="12700">
            <a:solidFill>
              <a:srgbClr val="193366"/>
            </a:solidFill>
            <a:prstDash val="solid"/>
          </a:ln>
        </p:spPr>
      </p:sp>
      <p:sp>
        <p:nvSpPr>
          <p:cNvPr id="14" name="Text 12"/>
          <p:cNvSpPr/>
          <p:nvPr/>
        </p:nvSpPr>
        <p:spPr>
          <a:xfrm>
            <a:off x="2432304" y="749808"/>
            <a:ext cx="1929384" cy="274320"/>
          </a:xfrm>
          <a:prstGeom prst="rect">
            <a:avLst/>
          </a:prstGeom>
          <a:noFill/>
          <a:ln/>
        </p:spPr>
        <p:txBody>
          <a:bodyPr wrap="square" lIns="0" tIns="0" rIns="0" bIns="0" rtlCol="0" anchor="ctr"/>
          <a:lstStyle/>
          <a:p>
            <a:pPr marL="0" indent="0">
              <a:buNone/>
            </a:pPr>
            <a:r>
              <a:rPr lang="en-US" sz="1300" b="1" dirty="0">
                <a:solidFill>
                  <a:srgbClr val="FEBD01"/>
                </a:solidFill>
                <a:latin typeface="Arial" pitchFamily="34" charset="0"/>
                <a:ea typeface="Arial" pitchFamily="34" charset="-122"/>
                <a:cs typeface="Arial" pitchFamily="34" charset="-120"/>
              </a:rPr>
              <a:t>Express.js</a:t>
            </a:r>
            <a:endParaRPr lang="en-US" sz="1300" dirty="0"/>
          </a:p>
        </p:txBody>
      </p:sp>
      <p:sp>
        <p:nvSpPr>
          <p:cNvPr id="15" name="Text 13"/>
          <p:cNvSpPr/>
          <p:nvPr/>
        </p:nvSpPr>
        <p:spPr>
          <a:xfrm>
            <a:off x="2432304" y="1024128"/>
            <a:ext cx="1929384" cy="182880"/>
          </a:xfrm>
          <a:prstGeom prst="rect">
            <a:avLst/>
          </a:prstGeom>
          <a:noFill/>
          <a:ln/>
        </p:spPr>
        <p:txBody>
          <a:bodyPr wrap="square" lIns="0" tIns="0" rIns="0" bIns="0" rtlCol="0" anchor="ctr"/>
          <a:lstStyle/>
          <a:p>
            <a:pPr marL="0" indent="0">
              <a:buNone/>
            </a:pPr>
            <a:r>
              <a:rPr lang="en-US" sz="900" dirty="0">
                <a:solidFill>
                  <a:srgbClr val="8892A4"/>
                </a:solidFill>
                <a:latin typeface="Arial" pitchFamily="34" charset="0"/>
                <a:ea typeface="Arial" pitchFamily="34" charset="-122"/>
                <a:cs typeface="Arial" pitchFamily="34" charset="-120"/>
              </a:rPr>
              <a:t>API Layer</a:t>
            </a:r>
            <a:endParaRPr lang="en-US" sz="900" dirty="0"/>
          </a:p>
        </p:txBody>
      </p:sp>
      <p:sp>
        <p:nvSpPr>
          <p:cNvPr id="16" name="Text 14"/>
          <p:cNvSpPr/>
          <p:nvPr/>
        </p:nvSpPr>
        <p:spPr>
          <a:xfrm>
            <a:off x="2432304" y="1261872"/>
            <a:ext cx="1901952" cy="14173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Lightweight, unopinionated framework for routing API requests. Works natively with Node.js middleware chain for auth, validation, and error handling.</a:t>
            </a:r>
            <a:endParaRPr lang="en-US" sz="950" dirty="0"/>
          </a:p>
        </p:txBody>
      </p:sp>
      <p:sp>
        <p:nvSpPr>
          <p:cNvPr id="17" name="Shape 15"/>
          <p:cNvSpPr/>
          <p:nvPr/>
        </p:nvSpPr>
        <p:spPr>
          <a:xfrm>
            <a:off x="4480560" y="749808"/>
            <a:ext cx="2066544" cy="2011680"/>
          </a:xfrm>
          <a:prstGeom prst="rect">
            <a:avLst/>
          </a:prstGeom>
          <a:solidFill>
            <a:srgbClr val="FFFFFF"/>
          </a:solidFill>
          <a:ln w="12700">
            <a:solidFill>
              <a:srgbClr val="193366"/>
            </a:solidFill>
            <a:prstDash val="solid"/>
          </a:ln>
        </p:spPr>
      </p:sp>
      <p:sp>
        <p:nvSpPr>
          <p:cNvPr id="18" name="Shape 16"/>
          <p:cNvSpPr/>
          <p:nvPr/>
        </p:nvSpPr>
        <p:spPr>
          <a:xfrm>
            <a:off x="4480560" y="749808"/>
            <a:ext cx="2066544" cy="457200"/>
          </a:xfrm>
          <a:prstGeom prst="rect">
            <a:avLst/>
          </a:prstGeom>
          <a:solidFill>
            <a:srgbClr val="193366"/>
          </a:solidFill>
          <a:ln w="12700">
            <a:solidFill>
              <a:srgbClr val="193366"/>
            </a:solidFill>
            <a:prstDash val="solid"/>
          </a:ln>
        </p:spPr>
      </p:sp>
      <p:sp>
        <p:nvSpPr>
          <p:cNvPr id="19" name="Text 17"/>
          <p:cNvSpPr/>
          <p:nvPr/>
        </p:nvSpPr>
        <p:spPr>
          <a:xfrm>
            <a:off x="4572000" y="749808"/>
            <a:ext cx="1929384" cy="274320"/>
          </a:xfrm>
          <a:prstGeom prst="rect">
            <a:avLst/>
          </a:prstGeom>
          <a:noFill/>
          <a:ln/>
        </p:spPr>
        <p:txBody>
          <a:bodyPr wrap="square" lIns="0" tIns="0" rIns="0" bIns="0" rtlCol="0" anchor="ctr"/>
          <a:lstStyle/>
          <a:p>
            <a:pPr marL="0" indent="0">
              <a:buNone/>
            </a:pPr>
            <a:r>
              <a:rPr lang="en-US" sz="1300" b="1" dirty="0">
                <a:solidFill>
                  <a:srgbClr val="FEBD01"/>
                </a:solidFill>
                <a:latin typeface="Arial" pitchFamily="34" charset="0"/>
                <a:ea typeface="Arial" pitchFamily="34" charset="-122"/>
                <a:cs typeface="Arial" pitchFamily="34" charset="-120"/>
              </a:rPr>
              <a:t>React.js + Vite</a:t>
            </a:r>
            <a:endParaRPr lang="en-US" sz="1300" dirty="0"/>
          </a:p>
        </p:txBody>
      </p:sp>
      <p:sp>
        <p:nvSpPr>
          <p:cNvPr id="20" name="Text 18"/>
          <p:cNvSpPr/>
          <p:nvPr/>
        </p:nvSpPr>
        <p:spPr>
          <a:xfrm>
            <a:off x="4572000" y="1024128"/>
            <a:ext cx="1929384" cy="182880"/>
          </a:xfrm>
          <a:prstGeom prst="rect">
            <a:avLst/>
          </a:prstGeom>
          <a:noFill/>
          <a:ln/>
        </p:spPr>
        <p:txBody>
          <a:bodyPr wrap="square" lIns="0" tIns="0" rIns="0" bIns="0" rtlCol="0" anchor="ctr"/>
          <a:lstStyle/>
          <a:p>
            <a:pPr marL="0" indent="0">
              <a:buNone/>
            </a:pPr>
            <a:r>
              <a:rPr lang="en-US" sz="900" dirty="0">
                <a:solidFill>
                  <a:srgbClr val="8892A4"/>
                </a:solidFill>
                <a:latin typeface="Arial" pitchFamily="34" charset="0"/>
                <a:ea typeface="Arial" pitchFamily="34" charset="-122"/>
                <a:cs typeface="Arial" pitchFamily="34" charset="-120"/>
              </a:rPr>
              <a:t>Frontend Layer</a:t>
            </a:r>
            <a:endParaRPr lang="en-US" sz="900" dirty="0"/>
          </a:p>
        </p:txBody>
      </p:sp>
      <p:sp>
        <p:nvSpPr>
          <p:cNvPr id="21" name="Text 19"/>
          <p:cNvSpPr/>
          <p:nvPr/>
        </p:nvSpPr>
        <p:spPr>
          <a:xfrm>
            <a:off x="4572000" y="1261872"/>
            <a:ext cx="1901952" cy="14173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Virtual DOM diffing means the page never fully reloads. SPA navigation between Dashboard and Editor feels like a native mobile app.</a:t>
            </a:r>
            <a:endParaRPr lang="en-US" sz="950" dirty="0"/>
          </a:p>
        </p:txBody>
      </p:sp>
      <p:sp>
        <p:nvSpPr>
          <p:cNvPr id="22" name="Shape 20"/>
          <p:cNvSpPr/>
          <p:nvPr/>
        </p:nvSpPr>
        <p:spPr>
          <a:xfrm>
            <a:off x="6620256" y="749808"/>
            <a:ext cx="2066544" cy="2011680"/>
          </a:xfrm>
          <a:prstGeom prst="rect">
            <a:avLst/>
          </a:prstGeom>
          <a:solidFill>
            <a:srgbClr val="FFFFFF"/>
          </a:solidFill>
          <a:ln w="12700">
            <a:solidFill>
              <a:srgbClr val="193366"/>
            </a:solidFill>
            <a:prstDash val="solid"/>
          </a:ln>
        </p:spPr>
      </p:sp>
      <p:sp>
        <p:nvSpPr>
          <p:cNvPr id="23" name="Shape 21"/>
          <p:cNvSpPr/>
          <p:nvPr/>
        </p:nvSpPr>
        <p:spPr>
          <a:xfrm>
            <a:off x="6620256" y="749808"/>
            <a:ext cx="2066544" cy="457200"/>
          </a:xfrm>
          <a:prstGeom prst="rect">
            <a:avLst/>
          </a:prstGeom>
          <a:solidFill>
            <a:srgbClr val="193366"/>
          </a:solidFill>
          <a:ln w="12700">
            <a:solidFill>
              <a:srgbClr val="193366"/>
            </a:solidFill>
            <a:prstDash val="solid"/>
          </a:ln>
        </p:spPr>
      </p:sp>
      <p:sp>
        <p:nvSpPr>
          <p:cNvPr id="24" name="Text 22"/>
          <p:cNvSpPr/>
          <p:nvPr/>
        </p:nvSpPr>
        <p:spPr>
          <a:xfrm>
            <a:off x="6711696" y="749808"/>
            <a:ext cx="1929384" cy="274320"/>
          </a:xfrm>
          <a:prstGeom prst="rect">
            <a:avLst/>
          </a:prstGeom>
          <a:noFill/>
          <a:ln/>
        </p:spPr>
        <p:txBody>
          <a:bodyPr wrap="square" lIns="0" tIns="0" rIns="0" bIns="0" rtlCol="0" anchor="ctr"/>
          <a:lstStyle/>
          <a:p>
            <a:pPr marL="0" indent="0">
              <a:buNone/>
            </a:pPr>
            <a:r>
              <a:rPr lang="en-US" sz="1300" b="1" dirty="0">
                <a:solidFill>
                  <a:srgbClr val="FEBD01"/>
                </a:solidFill>
                <a:latin typeface="Arial" pitchFamily="34" charset="0"/>
                <a:ea typeface="Arial" pitchFamily="34" charset="-122"/>
                <a:cs typeface="Arial" pitchFamily="34" charset="-120"/>
              </a:rPr>
              <a:t>Node.js</a:t>
            </a:r>
            <a:endParaRPr lang="en-US" sz="1300" dirty="0"/>
          </a:p>
        </p:txBody>
      </p:sp>
      <p:sp>
        <p:nvSpPr>
          <p:cNvPr id="25" name="Text 23"/>
          <p:cNvSpPr/>
          <p:nvPr/>
        </p:nvSpPr>
        <p:spPr>
          <a:xfrm>
            <a:off x="6711696" y="1024128"/>
            <a:ext cx="1929384" cy="182880"/>
          </a:xfrm>
          <a:prstGeom prst="rect">
            <a:avLst/>
          </a:prstGeom>
          <a:noFill/>
          <a:ln/>
        </p:spPr>
        <p:txBody>
          <a:bodyPr wrap="square" lIns="0" tIns="0" rIns="0" bIns="0" rtlCol="0" anchor="ctr"/>
          <a:lstStyle/>
          <a:p>
            <a:pPr marL="0" indent="0">
              <a:buNone/>
            </a:pPr>
            <a:r>
              <a:rPr lang="en-US" sz="900" dirty="0">
                <a:solidFill>
                  <a:srgbClr val="8892A4"/>
                </a:solidFill>
                <a:latin typeface="Arial" pitchFamily="34" charset="0"/>
                <a:ea typeface="Arial" pitchFamily="34" charset="-122"/>
                <a:cs typeface="Arial" pitchFamily="34" charset="-120"/>
              </a:rPr>
              <a:t>Server Runtime</a:t>
            </a:r>
            <a:endParaRPr lang="en-US" sz="900" dirty="0"/>
          </a:p>
        </p:txBody>
      </p:sp>
      <p:sp>
        <p:nvSpPr>
          <p:cNvPr id="26" name="Text 24"/>
          <p:cNvSpPr/>
          <p:nvPr/>
        </p:nvSpPr>
        <p:spPr>
          <a:xfrm>
            <a:off x="6711696" y="1261872"/>
            <a:ext cx="1901952" cy="14173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Asynchronous non-blocking I/O — handles dozens of simultaneous API calls without freezing the server thread. Perfect for real-time stat updates.</a:t>
            </a:r>
            <a:endParaRPr lang="en-US" sz="950" dirty="0"/>
          </a:p>
        </p:txBody>
      </p:sp>
      <p:sp>
        <p:nvSpPr>
          <p:cNvPr id="27" name="Text 25"/>
          <p:cNvSpPr/>
          <p:nvPr/>
        </p:nvSpPr>
        <p:spPr>
          <a:xfrm>
            <a:off x="201168" y="2889504"/>
            <a:ext cx="5486400" cy="274320"/>
          </a:xfrm>
          <a:prstGeom prst="rect">
            <a:avLst/>
          </a:prstGeom>
          <a:noFill/>
          <a:ln/>
        </p:spPr>
        <p:txBody>
          <a:bodyPr wrap="square" rtlCol="0" anchor="ctr"/>
          <a:lstStyle/>
          <a:p>
            <a:pPr marL="0" indent="0">
              <a:buNone/>
            </a:pPr>
            <a:r>
              <a:rPr lang="en-US" sz="1200" b="1" dirty="0">
                <a:solidFill>
                  <a:srgbClr val="193366"/>
                </a:solidFill>
                <a:latin typeface="Arial" pitchFamily="34" charset="0"/>
                <a:ea typeface="Arial" pitchFamily="34" charset="-122"/>
                <a:cs typeface="Arial" pitchFamily="34" charset="-120"/>
              </a:rPr>
              <a:t>3-Tier System Architecture</a:t>
            </a:r>
            <a:endParaRPr lang="en-US" sz="1200" dirty="0"/>
          </a:p>
        </p:txBody>
      </p:sp>
      <p:sp>
        <p:nvSpPr>
          <p:cNvPr id="28" name="Shape 26"/>
          <p:cNvSpPr/>
          <p:nvPr/>
        </p:nvSpPr>
        <p:spPr>
          <a:xfrm>
            <a:off x="201168" y="3255264"/>
            <a:ext cx="2816352" cy="1463040"/>
          </a:xfrm>
          <a:prstGeom prst="rect">
            <a:avLst/>
          </a:prstGeom>
          <a:solidFill>
            <a:srgbClr val="193366"/>
          </a:solidFill>
          <a:ln w="12700">
            <a:solidFill>
              <a:srgbClr val="FEBD01"/>
            </a:solidFill>
            <a:prstDash val="solid"/>
          </a:ln>
        </p:spPr>
      </p:sp>
      <p:sp>
        <p:nvSpPr>
          <p:cNvPr id="29" name="Shape 27"/>
          <p:cNvSpPr/>
          <p:nvPr/>
        </p:nvSpPr>
        <p:spPr>
          <a:xfrm>
            <a:off x="201168" y="3255264"/>
            <a:ext cx="2816352" cy="274320"/>
          </a:xfrm>
          <a:prstGeom prst="rect">
            <a:avLst/>
          </a:prstGeom>
          <a:solidFill>
            <a:srgbClr val="FEBD01"/>
          </a:solidFill>
          <a:ln w="12700">
            <a:solidFill>
              <a:srgbClr val="FEBD01"/>
            </a:solidFill>
            <a:prstDash val="solid"/>
          </a:ln>
        </p:spPr>
      </p:sp>
      <p:sp>
        <p:nvSpPr>
          <p:cNvPr id="30" name="Text 28"/>
          <p:cNvSpPr/>
          <p:nvPr/>
        </p:nvSpPr>
        <p:spPr>
          <a:xfrm>
            <a:off x="292608" y="3255264"/>
            <a:ext cx="2679192" cy="274320"/>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Presentation Tier</a:t>
            </a:r>
            <a:endParaRPr lang="en-US" sz="1000" dirty="0"/>
          </a:p>
        </p:txBody>
      </p:sp>
      <p:sp>
        <p:nvSpPr>
          <p:cNvPr id="31" name="Text 29"/>
          <p:cNvSpPr/>
          <p:nvPr/>
        </p:nvSpPr>
        <p:spPr>
          <a:xfrm>
            <a:off x="292608" y="3566160"/>
            <a:ext cx="2679192" cy="256032"/>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React.js (Vite)</a:t>
            </a:r>
            <a:endParaRPr lang="en-US" sz="1050" dirty="0"/>
          </a:p>
        </p:txBody>
      </p:sp>
      <p:sp>
        <p:nvSpPr>
          <p:cNvPr id="32" name="Text 30"/>
          <p:cNvSpPr/>
          <p:nvPr/>
        </p:nvSpPr>
        <p:spPr>
          <a:xfrm>
            <a:off x="292608" y="3840480"/>
            <a:ext cx="2651760" cy="804672"/>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Client UI — Axios calls, Virtual DOM rendering, useState / useContext state management</a:t>
            </a:r>
            <a:endParaRPr lang="en-US" sz="900" dirty="0"/>
          </a:p>
        </p:txBody>
      </p:sp>
      <p:sp>
        <p:nvSpPr>
          <p:cNvPr id="33" name="Shape 31"/>
          <p:cNvSpPr/>
          <p:nvPr/>
        </p:nvSpPr>
        <p:spPr>
          <a:xfrm>
            <a:off x="3054096" y="3840480"/>
            <a:ext cx="137160" cy="164592"/>
          </a:xfrm>
          <a:prstGeom prst="rect">
            <a:avLst/>
          </a:prstGeom>
          <a:solidFill>
            <a:srgbClr val="FEBD01"/>
          </a:solidFill>
          <a:ln w="12700">
            <a:solidFill>
              <a:srgbClr val="FEBD01"/>
            </a:solidFill>
            <a:prstDash val="solid"/>
          </a:ln>
        </p:spPr>
      </p:sp>
      <p:sp>
        <p:nvSpPr>
          <p:cNvPr id="34" name="Shape 32"/>
          <p:cNvSpPr/>
          <p:nvPr/>
        </p:nvSpPr>
        <p:spPr>
          <a:xfrm>
            <a:off x="3090672" y="3255264"/>
            <a:ext cx="2816352" cy="1463040"/>
          </a:xfrm>
          <a:prstGeom prst="rect">
            <a:avLst/>
          </a:prstGeom>
          <a:solidFill>
            <a:srgbClr val="193366"/>
          </a:solidFill>
          <a:ln w="12700">
            <a:solidFill>
              <a:srgbClr val="FEBD01"/>
            </a:solidFill>
            <a:prstDash val="solid"/>
          </a:ln>
        </p:spPr>
      </p:sp>
      <p:sp>
        <p:nvSpPr>
          <p:cNvPr id="35" name="Shape 33"/>
          <p:cNvSpPr/>
          <p:nvPr/>
        </p:nvSpPr>
        <p:spPr>
          <a:xfrm>
            <a:off x="3090672" y="3255264"/>
            <a:ext cx="2816352" cy="274320"/>
          </a:xfrm>
          <a:prstGeom prst="rect">
            <a:avLst/>
          </a:prstGeom>
          <a:solidFill>
            <a:srgbClr val="FEBD01"/>
          </a:solidFill>
          <a:ln w="12700">
            <a:solidFill>
              <a:srgbClr val="FEBD01"/>
            </a:solidFill>
            <a:prstDash val="solid"/>
          </a:ln>
        </p:spPr>
      </p:sp>
      <p:sp>
        <p:nvSpPr>
          <p:cNvPr id="36" name="Text 34"/>
          <p:cNvSpPr/>
          <p:nvPr/>
        </p:nvSpPr>
        <p:spPr>
          <a:xfrm>
            <a:off x="3182112" y="3255264"/>
            <a:ext cx="2679192" cy="274320"/>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Logic Tier</a:t>
            </a:r>
            <a:endParaRPr lang="en-US" sz="1000" dirty="0"/>
          </a:p>
        </p:txBody>
      </p:sp>
      <p:sp>
        <p:nvSpPr>
          <p:cNvPr id="37" name="Text 35"/>
          <p:cNvSpPr/>
          <p:nvPr/>
        </p:nvSpPr>
        <p:spPr>
          <a:xfrm>
            <a:off x="3182112" y="3566160"/>
            <a:ext cx="2679192" cy="256032"/>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Node.js + Express.js</a:t>
            </a:r>
            <a:endParaRPr lang="en-US" sz="1050" dirty="0"/>
          </a:p>
        </p:txBody>
      </p:sp>
      <p:sp>
        <p:nvSpPr>
          <p:cNvPr id="38" name="Text 36"/>
          <p:cNvSpPr/>
          <p:nvPr/>
        </p:nvSpPr>
        <p:spPr>
          <a:xfrm>
            <a:off x="3182112" y="3840480"/>
            <a:ext cx="2651760" cy="804672"/>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Middleware intercepts → JWT verification → Route controllers → CRUD operations</a:t>
            </a:r>
            <a:endParaRPr lang="en-US" sz="900" dirty="0"/>
          </a:p>
        </p:txBody>
      </p:sp>
      <p:sp>
        <p:nvSpPr>
          <p:cNvPr id="39" name="Shape 37"/>
          <p:cNvSpPr/>
          <p:nvPr/>
        </p:nvSpPr>
        <p:spPr>
          <a:xfrm>
            <a:off x="5943600" y="3840480"/>
            <a:ext cx="137160" cy="164592"/>
          </a:xfrm>
          <a:prstGeom prst="rect">
            <a:avLst/>
          </a:prstGeom>
          <a:solidFill>
            <a:srgbClr val="FEBD01"/>
          </a:solidFill>
          <a:ln w="12700">
            <a:solidFill>
              <a:srgbClr val="FEBD01"/>
            </a:solidFill>
            <a:prstDash val="solid"/>
          </a:ln>
        </p:spPr>
      </p:sp>
      <p:sp>
        <p:nvSpPr>
          <p:cNvPr id="40" name="Shape 38"/>
          <p:cNvSpPr/>
          <p:nvPr/>
        </p:nvSpPr>
        <p:spPr>
          <a:xfrm>
            <a:off x="5989320" y="3255264"/>
            <a:ext cx="2816352" cy="1463040"/>
          </a:xfrm>
          <a:prstGeom prst="rect">
            <a:avLst/>
          </a:prstGeom>
          <a:solidFill>
            <a:srgbClr val="193366"/>
          </a:solidFill>
          <a:ln w="12700">
            <a:solidFill>
              <a:srgbClr val="FEBD01"/>
            </a:solidFill>
            <a:prstDash val="solid"/>
          </a:ln>
        </p:spPr>
      </p:sp>
      <p:sp>
        <p:nvSpPr>
          <p:cNvPr id="41" name="Shape 39"/>
          <p:cNvSpPr/>
          <p:nvPr/>
        </p:nvSpPr>
        <p:spPr>
          <a:xfrm>
            <a:off x="5989320" y="3255264"/>
            <a:ext cx="2816352" cy="274320"/>
          </a:xfrm>
          <a:prstGeom prst="rect">
            <a:avLst/>
          </a:prstGeom>
          <a:solidFill>
            <a:srgbClr val="FEBD01"/>
          </a:solidFill>
          <a:ln w="12700">
            <a:solidFill>
              <a:srgbClr val="FEBD01"/>
            </a:solidFill>
            <a:prstDash val="solid"/>
          </a:ln>
        </p:spPr>
      </p:sp>
      <p:sp>
        <p:nvSpPr>
          <p:cNvPr id="42" name="Text 40"/>
          <p:cNvSpPr/>
          <p:nvPr/>
        </p:nvSpPr>
        <p:spPr>
          <a:xfrm>
            <a:off x="6080760" y="3255264"/>
            <a:ext cx="2679192" cy="274320"/>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Data Tier</a:t>
            </a:r>
            <a:endParaRPr lang="en-US" sz="1000" dirty="0"/>
          </a:p>
        </p:txBody>
      </p:sp>
      <p:sp>
        <p:nvSpPr>
          <p:cNvPr id="43" name="Text 41"/>
          <p:cNvSpPr/>
          <p:nvPr/>
        </p:nvSpPr>
        <p:spPr>
          <a:xfrm>
            <a:off x="6080760" y="3566160"/>
            <a:ext cx="2679192" cy="256032"/>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MongoDB Atlas</a:t>
            </a:r>
            <a:endParaRPr lang="en-US" sz="1050" dirty="0"/>
          </a:p>
        </p:txBody>
      </p:sp>
      <p:sp>
        <p:nvSpPr>
          <p:cNvPr id="44" name="Text 42"/>
          <p:cNvSpPr/>
          <p:nvPr/>
        </p:nvSpPr>
        <p:spPr>
          <a:xfrm>
            <a:off x="6080760" y="3840480"/>
            <a:ext cx="2651760" cy="804672"/>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Cloud-hosted NoSQL — isolated users &amp; journals collections, flexible BSON documents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Core Features &amp; Scope</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2816352" cy="1719072"/>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8" name="Shape 6"/>
          <p:cNvSpPr/>
          <p:nvPr/>
        </p:nvSpPr>
        <p:spPr>
          <a:xfrm>
            <a:off x="201168" y="749808"/>
            <a:ext cx="411480" cy="1719072"/>
          </a:xfrm>
          <a:prstGeom prst="rect">
            <a:avLst/>
          </a:prstGeom>
          <a:solidFill>
            <a:srgbClr val="193366"/>
          </a:solidFill>
          <a:ln w="12700">
            <a:solidFill>
              <a:srgbClr val="193366"/>
            </a:solidFill>
            <a:prstDash val="solid"/>
          </a:ln>
        </p:spPr>
      </p:sp>
      <p:sp>
        <p:nvSpPr>
          <p:cNvPr id="9" name="Text 7"/>
          <p:cNvSpPr/>
          <p:nvPr/>
        </p:nvSpPr>
        <p:spPr>
          <a:xfrm>
            <a:off x="201168" y="1408176"/>
            <a:ext cx="411480" cy="402336"/>
          </a:xfrm>
          <a:prstGeom prst="rect">
            <a:avLst/>
          </a:prstGeom>
          <a:noFill/>
          <a:ln/>
        </p:spPr>
        <p:txBody>
          <a:bodyPr wrap="square" lIns="0" tIns="0" rIns="0" bIns="0" rtlCol="0" anchor="ctr"/>
          <a:lstStyle/>
          <a:p>
            <a:pPr marL="0" indent="0" algn="ctr">
              <a:buNone/>
            </a:pPr>
            <a:r>
              <a:rPr lang="en-US" sz="1100" b="1" dirty="0">
                <a:solidFill>
                  <a:srgbClr val="FEBD01"/>
                </a:solidFill>
                <a:latin typeface="Arial" pitchFamily="34" charset="0"/>
                <a:ea typeface="Arial" pitchFamily="34" charset="-122"/>
                <a:cs typeface="Arial" pitchFamily="34" charset="-120"/>
              </a:rPr>
              <a:t>01</a:t>
            </a:r>
            <a:endParaRPr lang="en-US" sz="1100" dirty="0"/>
          </a:p>
        </p:txBody>
      </p:sp>
      <p:sp>
        <p:nvSpPr>
          <p:cNvPr id="10" name="Text 8"/>
          <p:cNvSpPr/>
          <p:nvPr/>
        </p:nvSpPr>
        <p:spPr>
          <a:xfrm>
            <a:off x="694944" y="841248"/>
            <a:ext cx="2249424" cy="32004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Secure Authentication</a:t>
            </a:r>
            <a:endParaRPr lang="en-US" sz="1100" dirty="0"/>
          </a:p>
        </p:txBody>
      </p:sp>
      <p:sp>
        <p:nvSpPr>
          <p:cNvPr id="11" name="Text 9"/>
          <p:cNvSpPr/>
          <p:nvPr/>
        </p:nvSpPr>
        <p:spPr>
          <a:xfrm>
            <a:off x="694944" y="1188720"/>
            <a:ext cx="2249424" cy="11887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JWT-based stateless sessions with 7-day expiry. Passwords hashed with BCrypt (never stored in plain text). Custom auth.js middleware guards every backend route.</a:t>
            </a:r>
            <a:endParaRPr lang="en-US" sz="950" dirty="0"/>
          </a:p>
        </p:txBody>
      </p:sp>
      <p:sp>
        <p:nvSpPr>
          <p:cNvPr id="12" name="Shape 10"/>
          <p:cNvSpPr/>
          <p:nvPr/>
        </p:nvSpPr>
        <p:spPr>
          <a:xfrm>
            <a:off x="3136392" y="749808"/>
            <a:ext cx="2816352" cy="1719072"/>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13" name="Shape 11"/>
          <p:cNvSpPr/>
          <p:nvPr/>
        </p:nvSpPr>
        <p:spPr>
          <a:xfrm>
            <a:off x="3136392" y="749808"/>
            <a:ext cx="411480" cy="1719072"/>
          </a:xfrm>
          <a:prstGeom prst="rect">
            <a:avLst/>
          </a:prstGeom>
          <a:solidFill>
            <a:srgbClr val="193366"/>
          </a:solidFill>
          <a:ln w="12700">
            <a:solidFill>
              <a:srgbClr val="193366"/>
            </a:solidFill>
            <a:prstDash val="solid"/>
          </a:ln>
        </p:spPr>
      </p:sp>
      <p:sp>
        <p:nvSpPr>
          <p:cNvPr id="14" name="Text 12"/>
          <p:cNvSpPr/>
          <p:nvPr/>
        </p:nvSpPr>
        <p:spPr>
          <a:xfrm>
            <a:off x="3136392" y="1408176"/>
            <a:ext cx="411480" cy="402336"/>
          </a:xfrm>
          <a:prstGeom prst="rect">
            <a:avLst/>
          </a:prstGeom>
          <a:noFill/>
          <a:ln/>
        </p:spPr>
        <p:txBody>
          <a:bodyPr wrap="square" lIns="0" tIns="0" rIns="0" bIns="0" rtlCol="0" anchor="ctr"/>
          <a:lstStyle/>
          <a:p>
            <a:pPr marL="0" indent="0" algn="ctr">
              <a:buNone/>
            </a:pPr>
            <a:r>
              <a:rPr lang="en-US" sz="1100" b="1" dirty="0">
                <a:solidFill>
                  <a:srgbClr val="FEBD01"/>
                </a:solidFill>
                <a:latin typeface="Arial" pitchFamily="34" charset="0"/>
                <a:ea typeface="Arial" pitchFamily="34" charset="-122"/>
                <a:cs typeface="Arial" pitchFamily="34" charset="-120"/>
              </a:rPr>
              <a:t>02</a:t>
            </a:r>
            <a:endParaRPr lang="en-US" sz="1100" dirty="0"/>
          </a:p>
        </p:txBody>
      </p:sp>
      <p:sp>
        <p:nvSpPr>
          <p:cNvPr id="15" name="Text 13"/>
          <p:cNvSpPr/>
          <p:nvPr/>
        </p:nvSpPr>
        <p:spPr>
          <a:xfrm>
            <a:off x="3630168" y="841248"/>
            <a:ext cx="2249424" cy="32004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Rich Entry Metadata</a:t>
            </a:r>
            <a:endParaRPr lang="en-US" sz="1100" dirty="0"/>
          </a:p>
        </p:txBody>
      </p:sp>
      <p:sp>
        <p:nvSpPr>
          <p:cNvPr id="16" name="Text 14"/>
          <p:cNvSpPr/>
          <p:nvPr/>
        </p:nvSpPr>
        <p:spPr>
          <a:xfrm>
            <a:off x="3630168" y="1188720"/>
            <a:ext cx="2249424" cy="11887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Beyond plain text — multi-select Mood pills (15+ options from psychological enum list), numerical Day Score slider (1–10), and optional Weather string field.</a:t>
            </a:r>
            <a:endParaRPr lang="en-US" sz="950" dirty="0"/>
          </a:p>
        </p:txBody>
      </p:sp>
      <p:sp>
        <p:nvSpPr>
          <p:cNvPr id="17" name="Shape 15"/>
          <p:cNvSpPr/>
          <p:nvPr/>
        </p:nvSpPr>
        <p:spPr>
          <a:xfrm>
            <a:off x="6071616" y="749808"/>
            <a:ext cx="2816352" cy="1719072"/>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18" name="Shape 16"/>
          <p:cNvSpPr/>
          <p:nvPr/>
        </p:nvSpPr>
        <p:spPr>
          <a:xfrm>
            <a:off x="6071616" y="749808"/>
            <a:ext cx="411480" cy="1719072"/>
          </a:xfrm>
          <a:prstGeom prst="rect">
            <a:avLst/>
          </a:prstGeom>
          <a:solidFill>
            <a:srgbClr val="193366"/>
          </a:solidFill>
          <a:ln w="12700">
            <a:solidFill>
              <a:srgbClr val="193366"/>
            </a:solidFill>
            <a:prstDash val="solid"/>
          </a:ln>
        </p:spPr>
      </p:sp>
      <p:sp>
        <p:nvSpPr>
          <p:cNvPr id="19" name="Text 17"/>
          <p:cNvSpPr/>
          <p:nvPr/>
        </p:nvSpPr>
        <p:spPr>
          <a:xfrm>
            <a:off x="6071616" y="1408176"/>
            <a:ext cx="411480" cy="402336"/>
          </a:xfrm>
          <a:prstGeom prst="rect">
            <a:avLst/>
          </a:prstGeom>
          <a:noFill/>
          <a:ln/>
        </p:spPr>
        <p:txBody>
          <a:bodyPr wrap="square" lIns="0" tIns="0" rIns="0" bIns="0" rtlCol="0" anchor="ctr"/>
          <a:lstStyle/>
          <a:p>
            <a:pPr marL="0" indent="0" algn="ctr">
              <a:buNone/>
            </a:pPr>
            <a:r>
              <a:rPr lang="en-US" sz="1100" b="1" dirty="0">
                <a:solidFill>
                  <a:srgbClr val="FEBD01"/>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6565392" y="841248"/>
            <a:ext cx="2249424" cy="32004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Real-Time Analytics Dashboard</a:t>
            </a:r>
            <a:endParaRPr lang="en-US" sz="1100" dirty="0"/>
          </a:p>
        </p:txBody>
      </p:sp>
      <p:sp>
        <p:nvSpPr>
          <p:cNvPr id="21" name="Text 19"/>
          <p:cNvSpPr/>
          <p:nvPr/>
        </p:nvSpPr>
        <p:spPr>
          <a:xfrm>
            <a:off x="6565392" y="1188720"/>
            <a:ext cx="2249424" cy="11887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Aggregation engine calculates total lifetime word count (string-split method), total entries, and renders dynamic Mood Frequency bars — all updating instantly on save.</a:t>
            </a:r>
            <a:endParaRPr lang="en-US" sz="950" dirty="0"/>
          </a:p>
        </p:txBody>
      </p:sp>
      <p:sp>
        <p:nvSpPr>
          <p:cNvPr id="22" name="Shape 20"/>
          <p:cNvSpPr/>
          <p:nvPr/>
        </p:nvSpPr>
        <p:spPr>
          <a:xfrm>
            <a:off x="201168" y="2596896"/>
            <a:ext cx="2816352" cy="1719072"/>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23" name="Shape 21"/>
          <p:cNvSpPr/>
          <p:nvPr/>
        </p:nvSpPr>
        <p:spPr>
          <a:xfrm>
            <a:off x="201168" y="2596896"/>
            <a:ext cx="411480" cy="1719072"/>
          </a:xfrm>
          <a:prstGeom prst="rect">
            <a:avLst/>
          </a:prstGeom>
          <a:solidFill>
            <a:srgbClr val="193366"/>
          </a:solidFill>
          <a:ln w="12700">
            <a:solidFill>
              <a:srgbClr val="193366"/>
            </a:solidFill>
            <a:prstDash val="solid"/>
          </a:ln>
        </p:spPr>
      </p:sp>
      <p:sp>
        <p:nvSpPr>
          <p:cNvPr id="24" name="Text 22"/>
          <p:cNvSpPr/>
          <p:nvPr/>
        </p:nvSpPr>
        <p:spPr>
          <a:xfrm>
            <a:off x="201168" y="3255264"/>
            <a:ext cx="411480" cy="402336"/>
          </a:xfrm>
          <a:prstGeom prst="rect">
            <a:avLst/>
          </a:prstGeom>
          <a:noFill/>
          <a:ln/>
        </p:spPr>
        <p:txBody>
          <a:bodyPr wrap="square" lIns="0" tIns="0" rIns="0" bIns="0" rtlCol="0" anchor="ctr"/>
          <a:lstStyle/>
          <a:p>
            <a:pPr marL="0" indent="0" algn="ctr">
              <a:buNone/>
            </a:pPr>
            <a:r>
              <a:rPr lang="en-US" sz="1100" b="1" dirty="0">
                <a:solidFill>
                  <a:srgbClr val="FEBD01"/>
                </a:solidFill>
                <a:latin typeface="Arial" pitchFamily="34" charset="0"/>
                <a:ea typeface="Arial" pitchFamily="34" charset="-122"/>
                <a:cs typeface="Arial" pitchFamily="34" charset="-120"/>
              </a:rPr>
              <a:t>04</a:t>
            </a:r>
            <a:endParaRPr lang="en-US" sz="1100" dirty="0"/>
          </a:p>
        </p:txBody>
      </p:sp>
      <p:sp>
        <p:nvSpPr>
          <p:cNvPr id="25" name="Text 23"/>
          <p:cNvSpPr/>
          <p:nvPr/>
        </p:nvSpPr>
        <p:spPr>
          <a:xfrm>
            <a:off x="694944" y="2688336"/>
            <a:ext cx="2249424" cy="32004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Archive Matrix Engine</a:t>
            </a:r>
            <a:endParaRPr lang="en-US" sz="1100" dirty="0"/>
          </a:p>
        </p:txBody>
      </p:sp>
      <p:sp>
        <p:nvSpPr>
          <p:cNvPr id="26" name="Text 24"/>
          <p:cNvSpPr/>
          <p:nvPr/>
        </p:nvSpPr>
        <p:spPr>
          <a:xfrm>
            <a:off x="694944" y="3035808"/>
            <a:ext cx="2249424" cy="11887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Algorithm parses ISO timestamps, extracts unique Years, and builds a 12-month interactive grid. Months with data are fully opaque and clickable; empty months fade out.</a:t>
            </a:r>
            <a:endParaRPr lang="en-US" sz="950" dirty="0"/>
          </a:p>
        </p:txBody>
      </p:sp>
      <p:sp>
        <p:nvSpPr>
          <p:cNvPr id="27" name="Shape 25"/>
          <p:cNvSpPr/>
          <p:nvPr/>
        </p:nvSpPr>
        <p:spPr>
          <a:xfrm>
            <a:off x="3136392" y="2596896"/>
            <a:ext cx="2816352" cy="1719072"/>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28" name="Shape 26"/>
          <p:cNvSpPr/>
          <p:nvPr/>
        </p:nvSpPr>
        <p:spPr>
          <a:xfrm>
            <a:off x="3136392" y="2596896"/>
            <a:ext cx="411480" cy="1719072"/>
          </a:xfrm>
          <a:prstGeom prst="rect">
            <a:avLst/>
          </a:prstGeom>
          <a:solidFill>
            <a:srgbClr val="193366"/>
          </a:solidFill>
          <a:ln w="12700">
            <a:solidFill>
              <a:srgbClr val="193366"/>
            </a:solidFill>
            <a:prstDash val="solid"/>
          </a:ln>
        </p:spPr>
      </p:sp>
      <p:sp>
        <p:nvSpPr>
          <p:cNvPr id="29" name="Text 27"/>
          <p:cNvSpPr/>
          <p:nvPr/>
        </p:nvSpPr>
        <p:spPr>
          <a:xfrm>
            <a:off x="3136392" y="3255264"/>
            <a:ext cx="411480" cy="402336"/>
          </a:xfrm>
          <a:prstGeom prst="rect">
            <a:avLst/>
          </a:prstGeom>
          <a:noFill/>
          <a:ln/>
        </p:spPr>
        <p:txBody>
          <a:bodyPr wrap="square" lIns="0" tIns="0" rIns="0" bIns="0" rtlCol="0" anchor="ctr"/>
          <a:lstStyle/>
          <a:p>
            <a:pPr marL="0" indent="0" algn="ctr">
              <a:buNone/>
            </a:pPr>
            <a:r>
              <a:rPr lang="en-US" sz="1100" b="1" dirty="0">
                <a:solidFill>
                  <a:srgbClr val="FEBD01"/>
                </a:solidFill>
                <a:latin typeface="Arial" pitchFamily="34" charset="0"/>
                <a:ea typeface="Arial" pitchFamily="34" charset="-122"/>
                <a:cs typeface="Arial" pitchFamily="34" charset="-120"/>
              </a:rPr>
              <a:t>05</a:t>
            </a:r>
            <a:endParaRPr lang="en-US" sz="1100" dirty="0"/>
          </a:p>
        </p:txBody>
      </p:sp>
      <p:sp>
        <p:nvSpPr>
          <p:cNvPr id="30" name="Text 28"/>
          <p:cNvSpPr/>
          <p:nvPr/>
        </p:nvSpPr>
        <p:spPr>
          <a:xfrm>
            <a:off x="3630168" y="2688336"/>
            <a:ext cx="2249424" cy="32004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Gender-Based Theming</a:t>
            </a:r>
            <a:endParaRPr lang="en-US" sz="1100" dirty="0"/>
          </a:p>
        </p:txBody>
      </p:sp>
      <p:sp>
        <p:nvSpPr>
          <p:cNvPr id="31" name="Text 29"/>
          <p:cNvSpPr/>
          <p:nvPr/>
        </p:nvSpPr>
        <p:spPr>
          <a:xfrm>
            <a:off x="3630168" y="3035808"/>
            <a:ext cx="2249424" cy="11887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Reads user's registered gender field and dynamically maps CSS :root variables to render personalized color gradients across the entire interface.</a:t>
            </a:r>
            <a:endParaRPr lang="en-US" sz="950" dirty="0"/>
          </a:p>
        </p:txBody>
      </p:sp>
      <p:sp>
        <p:nvSpPr>
          <p:cNvPr id="32" name="Shape 30"/>
          <p:cNvSpPr/>
          <p:nvPr/>
        </p:nvSpPr>
        <p:spPr>
          <a:xfrm>
            <a:off x="6071616" y="2596896"/>
            <a:ext cx="2816352" cy="1719072"/>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33" name="Shape 31"/>
          <p:cNvSpPr/>
          <p:nvPr/>
        </p:nvSpPr>
        <p:spPr>
          <a:xfrm>
            <a:off x="6071616" y="2596896"/>
            <a:ext cx="411480" cy="1719072"/>
          </a:xfrm>
          <a:prstGeom prst="rect">
            <a:avLst/>
          </a:prstGeom>
          <a:solidFill>
            <a:srgbClr val="193366"/>
          </a:solidFill>
          <a:ln w="12700">
            <a:solidFill>
              <a:srgbClr val="193366"/>
            </a:solidFill>
            <a:prstDash val="solid"/>
          </a:ln>
        </p:spPr>
      </p:sp>
      <p:sp>
        <p:nvSpPr>
          <p:cNvPr id="34" name="Text 32"/>
          <p:cNvSpPr/>
          <p:nvPr/>
        </p:nvSpPr>
        <p:spPr>
          <a:xfrm>
            <a:off x="6071616" y="3255264"/>
            <a:ext cx="411480" cy="402336"/>
          </a:xfrm>
          <a:prstGeom prst="rect">
            <a:avLst/>
          </a:prstGeom>
          <a:noFill/>
          <a:ln/>
        </p:spPr>
        <p:txBody>
          <a:bodyPr wrap="square" lIns="0" tIns="0" rIns="0" bIns="0" rtlCol="0" anchor="ctr"/>
          <a:lstStyle/>
          <a:p>
            <a:pPr marL="0" indent="0" algn="ctr">
              <a:buNone/>
            </a:pPr>
            <a:r>
              <a:rPr lang="en-US" sz="1100" b="1" dirty="0">
                <a:solidFill>
                  <a:srgbClr val="FEBD01"/>
                </a:solidFill>
                <a:latin typeface="Arial" pitchFamily="34" charset="0"/>
                <a:ea typeface="Arial" pitchFamily="34" charset="-122"/>
                <a:cs typeface="Arial" pitchFamily="34" charset="-120"/>
              </a:rPr>
              <a:t>06</a:t>
            </a:r>
            <a:endParaRPr lang="en-US" sz="1100" dirty="0"/>
          </a:p>
        </p:txBody>
      </p:sp>
      <p:sp>
        <p:nvSpPr>
          <p:cNvPr id="35" name="Text 33"/>
          <p:cNvSpPr/>
          <p:nvPr/>
        </p:nvSpPr>
        <p:spPr>
          <a:xfrm>
            <a:off x="6565392" y="2688336"/>
            <a:ext cx="2249424" cy="32004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Privacy-First Design</a:t>
            </a:r>
            <a:endParaRPr lang="en-US" sz="1100" dirty="0"/>
          </a:p>
        </p:txBody>
      </p:sp>
      <p:sp>
        <p:nvSpPr>
          <p:cNvPr id="36" name="Text 34"/>
          <p:cNvSpPr/>
          <p:nvPr/>
        </p:nvSpPr>
        <p:spPr>
          <a:xfrm>
            <a:off x="6565392" y="3035808"/>
            <a:ext cx="2249424" cy="1188720"/>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Zero social features, zero data sharing. Isolated per-user database collections. Strictly personal utility — no paywalls, no ads, no tracking.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Database Design — MongoDB Collections</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4114800" cy="3986784"/>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8" name="Shape 6"/>
          <p:cNvSpPr/>
          <p:nvPr/>
        </p:nvSpPr>
        <p:spPr>
          <a:xfrm>
            <a:off x="201168" y="749808"/>
            <a:ext cx="4114800" cy="384048"/>
          </a:xfrm>
          <a:prstGeom prst="rect">
            <a:avLst/>
          </a:prstGeom>
          <a:solidFill>
            <a:srgbClr val="193366"/>
          </a:solidFill>
          <a:ln w="12700">
            <a:solidFill>
              <a:srgbClr val="193366"/>
            </a:solidFill>
            <a:prstDash val="solid"/>
          </a:ln>
        </p:spPr>
      </p:sp>
      <p:sp>
        <p:nvSpPr>
          <p:cNvPr id="9" name="Text 7"/>
          <p:cNvSpPr/>
          <p:nvPr/>
        </p:nvSpPr>
        <p:spPr>
          <a:xfrm>
            <a:off x="292608" y="749808"/>
            <a:ext cx="3931920" cy="384048"/>
          </a:xfrm>
          <a:prstGeom prst="rect">
            <a:avLst/>
          </a:prstGeom>
          <a:noFill/>
          <a:ln/>
        </p:spPr>
        <p:txBody>
          <a:bodyPr wrap="square" lIns="0" tIns="0" rIns="0" bIns="0" rtlCol="0" anchor="ctr"/>
          <a:lstStyle/>
          <a:p>
            <a:pPr marL="0" indent="0">
              <a:buNone/>
            </a:pPr>
            <a:r>
              <a:rPr lang="en-US" sz="1300" b="1" dirty="0">
                <a:solidFill>
                  <a:srgbClr val="FEBD01"/>
                </a:solidFill>
                <a:latin typeface="Arial" pitchFamily="34" charset="0"/>
                <a:ea typeface="Arial" pitchFamily="34" charset="-122"/>
                <a:cs typeface="Arial" pitchFamily="34" charset="-120"/>
              </a:rPr>
              <a:t>users  Collection</a:t>
            </a:r>
            <a:endParaRPr lang="en-US" sz="1300" dirty="0"/>
          </a:p>
        </p:txBody>
      </p:sp>
      <p:sp>
        <p:nvSpPr>
          <p:cNvPr id="10" name="Shape 8"/>
          <p:cNvSpPr/>
          <p:nvPr/>
        </p:nvSpPr>
        <p:spPr>
          <a:xfrm>
            <a:off x="256032" y="1188720"/>
            <a:ext cx="914400" cy="256032"/>
          </a:xfrm>
          <a:prstGeom prst="rect">
            <a:avLst/>
          </a:prstGeom>
          <a:solidFill>
            <a:srgbClr val="FEBD01"/>
          </a:solidFill>
          <a:ln w="12700">
            <a:solidFill>
              <a:srgbClr val="FEBD01"/>
            </a:solidFill>
            <a:prstDash val="solid"/>
          </a:ln>
        </p:spPr>
      </p:sp>
      <p:sp>
        <p:nvSpPr>
          <p:cNvPr id="11" name="Text 9"/>
          <p:cNvSpPr/>
          <p:nvPr/>
        </p:nvSpPr>
        <p:spPr>
          <a:xfrm>
            <a:off x="292608" y="1188720"/>
            <a:ext cx="859536" cy="256032"/>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Field</a:t>
            </a:r>
            <a:endParaRPr lang="en-US" sz="950" dirty="0"/>
          </a:p>
        </p:txBody>
      </p:sp>
      <p:sp>
        <p:nvSpPr>
          <p:cNvPr id="12" name="Shape 10"/>
          <p:cNvSpPr/>
          <p:nvPr/>
        </p:nvSpPr>
        <p:spPr>
          <a:xfrm>
            <a:off x="1197864" y="1188720"/>
            <a:ext cx="822960" cy="256032"/>
          </a:xfrm>
          <a:prstGeom prst="rect">
            <a:avLst/>
          </a:prstGeom>
          <a:solidFill>
            <a:srgbClr val="FEBD01"/>
          </a:solidFill>
          <a:ln w="12700">
            <a:solidFill>
              <a:srgbClr val="FEBD01"/>
            </a:solidFill>
            <a:prstDash val="solid"/>
          </a:ln>
        </p:spPr>
      </p:sp>
      <p:sp>
        <p:nvSpPr>
          <p:cNvPr id="13" name="Text 11"/>
          <p:cNvSpPr/>
          <p:nvPr/>
        </p:nvSpPr>
        <p:spPr>
          <a:xfrm>
            <a:off x="1234440" y="1188720"/>
            <a:ext cx="768096" cy="256032"/>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Type</a:t>
            </a:r>
            <a:endParaRPr lang="en-US" sz="950" dirty="0"/>
          </a:p>
        </p:txBody>
      </p:sp>
      <p:sp>
        <p:nvSpPr>
          <p:cNvPr id="14" name="Shape 12"/>
          <p:cNvSpPr/>
          <p:nvPr/>
        </p:nvSpPr>
        <p:spPr>
          <a:xfrm>
            <a:off x="2048256" y="1188720"/>
            <a:ext cx="2194560" cy="256032"/>
          </a:xfrm>
          <a:prstGeom prst="rect">
            <a:avLst/>
          </a:prstGeom>
          <a:solidFill>
            <a:srgbClr val="FEBD01"/>
          </a:solidFill>
          <a:ln w="12700">
            <a:solidFill>
              <a:srgbClr val="FEBD01"/>
            </a:solidFill>
            <a:prstDash val="solid"/>
          </a:ln>
        </p:spPr>
      </p:sp>
      <p:sp>
        <p:nvSpPr>
          <p:cNvPr id="15" name="Text 13"/>
          <p:cNvSpPr/>
          <p:nvPr/>
        </p:nvSpPr>
        <p:spPr>
          <a:xfrm>
            <a:off x="2084832" y="1188720"/>
            <a:ext cx="2139696" cy="256032"/>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Description</a:t>
            </a:r>
            <a:endParaRPr lang="en-US" sz="950" dirty="0"/>
          </a:p>
        </p:txBody>
      </p:sp>
      <p:sp>
        <p:nvSpPr>
          <p:cNvPr id="16" name="Shape 14"/>
          <p:cNvSpPr/>
          <p:nvPr/>
        </p:nvSpPr>
        <p:spPr>
          <a:xfrm>
            <a:off x="256032" y="1463040"/>
            <a:ext cx="914400" cy="640080"/>
          </a:xfrm>
          <a:prstGeom prst="rect">
            <a:avLst/>
          </a:prstGeom>
          <a:solidFill>
            <a:srgbClr val="F5F6FA"/>
          </a:solidFill>
          <a:ln w="5080">
            <a:solidFill>
              <a:srgbClr val="D0D5DD"/>
            </a:solidFill>
            <a:prstDash val="solid"/>
          </a:ln>
        </p:spPr>
      </p:sp>
      <p:sp>
        <p:nvSpPr>
          <p:cNvPr id="17" name="Text 15"/>
          <p:cNvSpPr/>
          <p:nvPr/>
        </p:nvSpPr>
        <p:spPr>
          <a:xfrm>
            <a:off x="292608" y="1499616"/>
            <a:ext cx="859536" cy="566928"/>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_id</a:t>
            </a:r>
            <a:endParaRPr lang="en-US" sz="950" dirty="0"/>
          </a:p>
        </p:txBody>
      </p:sp>
      <p:sp>
        <p:nvSpPr>
          <p:cNvPr id="18" name="Shape 16"/>
          <p:cNvSpPr/>
          <p:nvPr/>
        </p:nvSpPr>
        <p:spPr>
          <a:xfrm>
            <a:off x="1197864" y="1463040"/>
            <a:ext cx="822960" cy="640080"/>
          </a:xfrm>
          <a:prstGeom prst="rect">
            <a:avLst/>
          </a:prstGeom>
          <a:solidFill>
            <a:srgbClr val="F5F6FA"/>
          </a:solidFill>
          <a:ln w="5080">
            <a:solidFill>
              <a:srgbClr val="D0D5DD"/>
            </a:solidFill>
            <a:prstDash val="solid"/>
          </a:ln>
        </p:spPr>
      </p:sp>
      <p:sp>
        <p:nvSpPr>
          <p:cNvPr id="19" name="Text 17"/>
          <p:cNvSpPr/>
          <p:nvPr/>
        </p:nvSpPr>
        <p:spPr>
          <a:xfrm>
            <a:off x="1234440" y="1499616"/>
            <a:ext cx="768096" cy="566928"/>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ObjectId</a:t>
            </a:r>
            <a:endParaRPr lang="en-US" sz="900" dirty="0"/>
          </a:p>
        </p:txBody>
      </p:sp>
      <p:sp>
        <p:nvSpPr>
          <p:cNvPr id="20" name="Shape 18"/>
          <p:cNvSpPr/>
          <p:nvPr/>
        </p:nvSpPr>
        <p:spPr>
          <a:xfrm>
            <a:off x="2048256" y="1463040"/>
            <a:ext cx="2194560" cy="640080"/>
          </a:xfrm>
          <a:prstGeom prst="rect">
            <a:avLst/>
          </a:prstGeom>
          <a:solidFill>
            <a:srgbClr val="F5F6FA"/>
          </a:solidFill>
          <a:ln w="5080">
            <a:solidFill>
              <a:srgbClr val="D0D5DD"/>
            </a:solidFill>
            <a:prstDash val="solid"/>
          </a:ln>
        </p:spPr>
      </p:sp>
      <p:sp>
        <p:nvSpPr>
          <p:cNvPr id="21" name="Text 19"/>
          <p:cNvSpPr/>
          <p:nvPr/>
        </p:nvSpPr>
        <p:spPr>
          <a:xfrm>
            <a:off x="2084832" y="1499616"/>
            <a:ext cx="2139696" cy="566928"/>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Auto-generated unique document ID</a:t>
            </a:r>
            <a:endParaRPr lang="en-US" sz="950" dirty="0"/>
          </a:p>
        </p:txBody>
      </p:sp>
      <p:sp>
        <p:nvSpPr>
          <p:cNvPr id="22" name="Shape 20"/>
          <p:cNvSpPr/>
          <p:nvPr/>
        </p:nvSpPr>
        <p:spPr>
          <a:xfrm>
            <a:off x="256032" y="2121408"/>
            <a:ext cx="914400" cy="640080"/>
          </a:xfrm>
          <a:prstGeom prst="rect">
            <a:avLst/>
          </a:prstGeom>
          <a:solidFill>
            <a:srgbClr val="FFFFFF"/>
          </a:solidFill>
          <a:ln w="5080">
            <a:solidFill>
              <a:srgbClr val="D0D5DD"/>
            </a:solidFill>
            <a:prstDash val="solid"/>
          </a:ln>
        </p:spPr>
      </p:sp>
      <p:sp>
        <p:nvSpPr>
          <p:cNvPr id="23" name="Text 21"/>
          <p:cNvSpPr/>
          <p:nvPr/>
        </p:nvSpPr>
        <p:spPr>
          <a:xfrm>
            <a:off x="292608" y="2157984"/>
            <a:ext cx="859536" cy="566928"/>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username</a:t>
            </a:r>
            <a:endParaRPr lang="en-US" sz="950" dirty="0"/>
          </a:p>
        </p:txBody>
      </p:sp>
      <p:sp>
        <p:nvSpPr>
          <p:cNvPr id="24" name="Shape 22"/>
          <p:cNvSpPr/>
          <p:nvPr/>
        </p:nvSpPr>
        <p:spPr>
          <a:xfrm>
            <a:off x="1197864" y="2121408"/>
            <a:ext cx="822960" cy="640080"/>
          </a:xfrm>
          <a:prstGeom prst="rect">
            <a:avLst/>
          </a:prstGeom>
          <a:solidFill>
            <a:srgbClr val="FFFFFF"/>
          </a:solidFill>
          <a:ln w="5080">
            <a:solidFill>
              <a:srgbClr val="D0D5DD"/>
            </a:solidFill>
            <a:prstDash val="solid"/>
          </a:ln>
        </p:spPr>
      </p:sp>
      <p:sp>
        <p:nvSpPr>
          <p:cNvPr id="25" name="Text 23"/>
          <p:cNvSpPr/>
          <p:nvPr/>
        </p:nvSpPr>
        <p:spPr>
          <a:xfrm>
            <a:off x="1234440" y="2157984"/>
            <a:ext cx="768096" cy="566928"/>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String</a:t>
            </a:r>
            <a:endParaRPr lang="en-US" sz="900" dirty="0"/>
          </a:p>
        </p:txBody>
      </p:sp>
      <p:sp>
        <p:nvSpPr>
          <p:cNvPr id="26" name="Shape 24"/>
          <p:cNvSpPr/>
          <p:nvPr/>
        </p:nvSpPr>
        <p:spPr>
          <a:xfrm>
            <a:off x="2048256" y="2121408"/>
            <a:ext cx="2194560" cy="640080"/>
          </a:xfrm>
          <a:prstGeom prst="rect">
            <a:avLst/>
          </a:prstGeom>
          <a:solidFill>
            <a:srgbClr val="FFFFFF"/>
          </a:solidFill>
          <a:ln w="5080">
            <a:solidFill>
              <a:srgbClr val="D0D5DD"/>
            </a:solidFill>
            <a:prstDash val="solid"/>
          </a:ln>
        </p:spPr>
      </p:sp>
      <p:sp>
        <p:nvSpPr>
          <p:cNvPr id="27" name="Text 25"/>
          <p:cNvSpPr/>
          <p:nvPr/>
        </p:nvSpPr>
        <p:spPr>
          <a:xfrm>
            <a:off x="2084832" y="2157984"/>
            <a:ext cx="2139696" cy="566928"/>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Display name</a:t>
            </a:r>
            <a:endParaRPr lang="en-US" sz="950" dirty="0"/>
          </a:p>
        </p:txBody>
      </p:sp>
      <p:sp>
        <p:nvSpPr>
          <p:cNvPr id="28" name="Shape 26"/>
          <p:cNvSpPr/>
          <p:nvPr/>
        </p:nvSpPr>
        <p:spPr>
          <a:xfrm>
            <a:off x="256032" y="2779776"/>
            <a:ext cx="914400" cy="640080"/>
          </a:xfrm>
          <a:prstGeom prst="rect">
            <a:avLst/>
          </a:prstGeom>
          <a:solidFill>
            <a:srgbClr val="F5F6FA"/>
          </a:solidFill>
          <a:ln w="5080">
            <a:solidFill>
              <a:srgbClr val="D0D5DD"/>
            </a:solidFill>
            <a:prstDash val="solid"/>
          </a:ln>
        </p:spPr>
      </p:sp>
      <p:sp>
        <p:nvSpPr>
          <p:cNvPr id="29" name="Text 27"/>
          <p:cNvSpPr/>
          <p:nvPr/>
        </p:nvSpPr>
        <p:spPr>
          <a:xfrm>
            <a:off x="292608" y="2816352"/>
            <a:ext cx="859536" cy="566928"/>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email</a:t>
            </a:r>
            <a:endParaRPr lang="en-US" sz="950" dirty="0"/>
          </a:p>
        </p:txBody>
      </p:sp>
      <p:sp>
        <p:nvSpPr>
          <p:cNvPr id="30" name="Shape 28"/>
          <p:cNvSpPr/>
          <p:nvPr/>
        </p:nvSpPr>
        <p:spPr>
          <a:xfrm>
            <a:off x="1197864" y="2779776"/>
            <a:ext cx="822960" cy="640080"/>
          </a:xfrm>
          <a:prstGeom prst="rect">
            <a:avLst/>
          </a:prstGeom>
          <a:solidFill>
            <a:srgbClr val="F5F6FA"/>
          </a:solidFill>
          <a:ln w="5080">
            <a:solidFill>
              <a:srgbClr val="D0D5DD"/>
            </a:solidFill>
            <a:prstDash val="solid"/>
          </a:ln>
        </p:spPr>
      </p:sp>
      <p:sp>
        <p:nvSpPr>
          <p:cNvPr id="31" name="Text 29"/>
          <p:cNvSpPr/>
          <p:nvPr/>
        </p:nvSpPr>
        <p:spPr>
          <a:xfrm>
            <a:off x="1234440" y="2816352"/>
            <a:ext cx="768096" cy="566928"/>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String</a:t>
            </a:r>
            <a:endParaRPr lang="en-US" sz="900" dirty="0"/>
          </a:p>
        </p:txBody>
      </p:sp>
      <p:sp>
        <p:nvSpPr>
          <p:cNvPr id="32" name="Shape 30"/>
          <p:cNvSpPr/>
          <p:nvPr/>
        </p:nvSpPr>
        <p:spPr>
          <a:xfrm>
            <a:off x="2048256" y="2779776"/>
            <a:ext cx="2194560" cy="640080"/>
          </a:xfrm>
          <a:prstGeom prst="rect">
            <a:avLst/>
          </a:prstGeom>
          <a:solidFill>
            <a:srgbClr val="F5F6FA"/>
          </a:solidFill>
          <a:ln w="5080">
            <a:solidFill>
              <a:srgbClr val="D0D5DD"/>
            </a:solidFill>
            <a:prstDash val="solid"/>
          </a:ln>
        </p:spPr>
      </p:sp>
      <p:sp>
        <p:nvSpPr>
          <p:cNvPr id="33" name="Text 31"/>
          <p:cNvSpPr/>
          <p:nvPr/>
        </p:nvSpPr>
        <p:spPr>
          <a:xfrm>
            <a:off x="2084832" y="2816352"/>
            <a:ext cx="2139696" cy="566928"/>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Unique index — no duplicate accounts</a:t>
            </a:r>
            <a:endParaRPr lang="en-US" sz="950" dirty="0"/>
          </a:p>
        </p:txBody>
      </p:sp>
      <p:sp>
        <p:nvSpPr>
          <p:cNvPr id="34" name="Shape 32"/>
          <p:cNvSpPr/>
          <p:nvPr/>
        </p:nvSpPr>
        <p:spPr>
          <a:xfrm>
            <a:off x="256032" y="3438144"/>
            <a:ext cx="914400" cy="640080"/>
          </a:xfrm>
          <a:prstGeom prst="rect">
            <a:avLst/>
          </a:prstGeom>
          <a:solidFill>
            <a:srgbClr val="FFFFFF"/>
          </a:solidFill>
          <a:ln w="5080">
            <a:solidFill>
              <a:srgbClr val="D0D5DD"/>
            </a:solidFill>
            <a:prstDash val="solid"/>
          </a:ln>
        </p:spPr>
      </p:sp>
      <p:sp>
        <p:nvSpPr>
          <p:cNvPr id="35" name="Text 33"/>
          <p:cNvSpPr/>
          <p:nvPr/>
        </p:nvSpPr>
        <p:spPr>
          <a:xfrm>
            <a:off x="292608" y="3474720"/>
            <a:ext cx="859536" cy="566928"/>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password</a:t>
            </a:r>
            <a:endParaRPr lang="en-US" sz="950" dirty="0"/>
          </a:p>
        </p:txBody>
      </p:sp>
      <p:sp>
        <p:nvSpPr>
          <p:cNvPr id="36" name="Shape 34"/>
          <p:cNvSpPr/>
          <p:nvPr/>
        </p:nvSpPr>
        <p:spPr>
          <a:xfrm>
            <a:off x="1197864" y="3438144"/>
            <a:ext cx="822960" cy="640080"/>
          </a:xfrm>
          <a:prstGeom prst="rect">
            <a:avLst/>
          </a:prstGeom>
          <a:solidFill>
            <a:srgbClr val="FFFFFF"/>
          </a:solidFill>
          <a:ln w="5080">
            <a:solidFill>
              <a:srgbClr val="D0D5DD"/>
            </a:solidFill>
            <a:prstDash val="solid"/>
          </a:ln>
        </p:spPr>
      </p:sp>
      <p:sp>
        <p:nvSpPr>
          <p:cNvPr id="37" name="Text 35"/>
          <p:cNvSpPr/>
          <p:nvPr/>
        </p:nvSpPr>
        <p:spPr>
          <a:xfrm>
            <a:off x="1234440" y="3474720"/>
            <a:ext cx="768096" cy="566928"/>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String</a:t>
            </a:r>
            <a:endParaRPr lang="en-US" sz="900" dirty="0"/>
          </a:p>
        </p:txBody>
      </p:sp>
      <p:sp>
        <p:nvSpPr>
          <p:cNvPr id="38" name="Shape 36"/>
          <p:cNvSpPr/>
          <p:nvPr/>
        </p:nvSpPr>
        <p:spPr>
          <a:xfrm>
            <a:off x="2048256" y="3438144"/>
            <a:ext cx="2194560" cy="640080"/>
          </a:xfrm>
          <a:prstGeom prst="rect">
            <a:avLst/>
          </a:prstGeom>
          <a:solidFill>
            <a:srgbClr val="FFFFFF"/>
          </a:solidFill>
          <a:ln w="5080">
            <a:solidFill>
              <a:srgbClr val="D0D5DD"/>
            </a:solidFill>
            <a:prstDash val="solid"/>
          </a:ln>
        </p:spPr>
      </p:sp>
      <p:sp>
        <p:nvSpPr>
          <p:cNvPr id="39" name="Text 37"/>
          <p:cNvSpPr/>
          <p:nvPr/>
        </p:nvSpPr>
        <p:spPr>
          <a:xfrm>
            <a:off x="2084832" y="3474720"/>
            <a:ext cx="2139696" cy="566928"/>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BCrypt hash (60 chars) — never plain text</a:t>
            </a:r>
            <a:endParaRPr lang="en-US" sz="950" dirty="0"/>
          </a:p>
        </p:txBody>
      </p:sp>
      <p:sp>
        <p:nvSpPr>
          <p:cNvPr id="40" name="Shape 38"/>
          <p:cNvSpPr/>
          <p:nvPr/>
        </p:nvSpPr>
        <p:spPr>
          <a:xfrm>
            <a:off x="256032" y="4096512"/>
            <a:ext cx="914400" cy="640080"/>
          </a:xfrm>
          <a:prstGeom prst="rect">
            <a:avLst/>
          </a:prstGeom>
          <a:solidFill>
            <a:srgbClr val="F5F6FA"/>
          </a:solidFill>
          <a:ln w="5080">
            <a:solidFill>
              <a:srgbClr val="D0D5DD"/>
            </a:solidFill>
            <a:prstDash val="solid"/>
          </a:ln>
        </p:spPr>
      </p:sp>
      <p:sp>
        <p:nvSpPr>
          <p:cNvPr id="41" name="Text 39"/>
          <p:cNvSpPr/>
          <p:nvPr/>
        </p:nvSpPr>
        <p:spPr>
          <a:xfrm>
            <a:off x="292608" y="4133088"/>
            <a:ext cx="859536" cy="566928"/>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gender</a:t>
            </a:r>
            <a:endParaRPr lang="en-US" sz="950" dirty="0"/>
          </a:p>
        </p:txBody>
      </p:sp>
      <p:sp>
        <p:nvSpPr>
          <p:cNvPr id="42" name="Shape 40"/>
          <p:cNvSpPr/>
          <p:nvPr/>
        </p:nvSpPr>
        <p:spPr>
          <a:xfrm>
            <a:off x="1197864" y="4096512"/>
            <a:ext cx="822960" cy="640080"/>
          </a:xfrm>
          <a:prstGeom prst="rect">
            <a:avLst/>
          </a:prstGeom>
          <a:solidFill>
            <a:srgbClr val="F5F6FA"/>
          </a:solidFill>
          <a:ln w="5080">
            <a:solidFill>
              <a:srgbClr val="D0D5DD"/>
            </a:solidFill>
            <a:prstDash val="solid"/>
          </a:ln>
        </p:spPr>
      </p:sp>
      <p:sp>
        <p:nvSpPr>
          <p:cNvPr id="43" name="Text 41"/>
          <p:cNvSpPr/>
          <p:nvPr/>
        </p:nvSpPr>
        <p:spPr>
          <a:xfrm>
            <a:off x="1234440" y="4133088"/>
            <a:ext cx="768096" cy="566928"/>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String</a:t>
            </a:r>
            <a:endParaRPr lang="en-US" sz="900" dirty="0"/>
          </a:p>
        </p:txBody>
      </p:sp>
      <p:sp>
        <p:nvSpPr>
          <p:cNvPr id="44" name="Shape 42"/>
          <p:cNvSpPr/>
          <p:nvPr/>
        </p:nvSpPr>
        <p:spPr>
          <a:xfrm>
            <a:off x="2048256" y="4096512"/>
            <a:ext cx="2194560" cy="640080"/>
          </a:xfrm>
          <a:prstGeom prst="rect">
            <a:avLst/>
          </a:prstGeom>
          <a:solidFill>
            <a:srgbClr val="F5F6FA"/>
          </a:solidFill>
          <a:ln w="5080">
            <a:solidFill>
              <a:srgbClr val="D0D5DD"/>
            </a:solidFill>
            <a:prstDash val="solid"/>
          </a:ln>
        </p:spPr>
      </p:sp>
      <p:sp>
        <p:nvSpPr>
          <p:cNvPr id="45" name="Text 43"/>
          <p:cNvSpPr/>
          <p:nvPr/>
        </p:nvSpPr>
        <p:spPr>
          <a:xfrm>
            <a:off x="2084832" y="4133088"/>
            <a:ext cx="2139696" cy="566928"/>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Enum: male / female — drives UI theme</a:t>
            </a:r>
            <a:endParaRPr lang="en-US" sz="950" dirty="0"/>
          </a:p>
        </p:txBody>
      </p:sp>
      <p:sp>
        <p:nvSpPr>
          <p:cNvPr id="46" name="Shape 44"/>
          <p:cNvSpPr/>
          <p:nvPr/>
        </p:nvSpPr>
        <p:spPr>
          <a:xfrm>
            <a:off x="256032" y="4754880"/>
            <a:ext cx="914400" cy="640080"/>
          </a:xfrm>
          <a:prstGeom prst="rect">
            <a:avLst/>
          </a:prstGeom>
          <a:solidFill>
            <a:srgbClr val="FFFFFF"/>
          </a:solidFill>
          <a:ln w="5080">
            <a:solidFill>
              <a:srgbClr val="D0D5DD"/>
            </a:solidFill>
            <a:prstDash val="solid"/>
          </a:ln>
        </p:spPr>
      </p:sp>
      <p:sp>
        <p:nvSpPr>
          <p:cNvPr id="47" name="Text 45"/>
          <p:cNvSpPr/>
          <p:nvPr/>
        </p:nvSpPr>
        <p:spPr>
          <a:xfrm>
            <a:off x="292608" y="4791456"/>
            <a:ext cx="859536" cy="566928"/>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createdAt</a:t>
            </a:r>
            <a:endParaRPr lang="en-US" sz="950" dirty="0"/>
          </a:p>
        </p:txBody>
      </p:sp>
      <p:sp>
        <p:nvSpPr>
          <p:cNvPr id="48" name="Shape 46"/>
          <p:cNvSpPr/>
          <p:nvPr/>
        </p:nvSpPr>
        <p:spPr>
          <a:xfrm>
            <a:off x="1197864" y="4754880"/>
            <a:ext cx="822960" cy="640080"/>
          </a:xfrm>
          <a:prstGeom prst="rect">
            <a:avLst/>
          </a:prstGeom>
          <a:solidFill>
            <a:srgbClr val="FFFFFF"/>
          </a:solidFill>
          <a:ln w="5080">
            <a:solidFill>
              <a:srgbClr val="D0D5DD"/>
            </a:solidFill>
            <a:prstDash val="solid"/>
          </a:ln>
        </p:spPr>
      </p:sp>
      <p:sp>
        <p:nvSpPr>
          <p:cNvPr id="49" name="Text 47"/>
          <p:cNvSpPr/>
          <p:nvPr/>
        </p:nvSpPr>
        <p:spPr>
          <a:xfrm>
            <a:off x="1234440" y="4791456"/>
            <a:ext cx="768096" cy="566928"/>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Date</a:t>
            </a:r>
            <a:endParaRPr lang="en-US" sz="900" dirty="0"/>
          </a:p>
        </p:txBody>
      </p:sp>
      <p:sp>
        <p:nvSpPr>
          <p:cNvPr id="50" name="Shape 48"/>
          <p:cNvSpPr/>
          <p:nvPr/>
        </p:nvSpPr>
        <p:spPr>
          <a:xfrm>
            <a:off x="2048256" y="4754880"/>
            <a:ext cx="2194560" cy="640080"/>
          </a:xfrm>
          <a:prstGeom prst="rect">
            <a:avLst/>
          </a:prstGeom>
          <a:solidFill>
            <a:srgbClr val="FFFFFF"/>
          </a:solidFill>
          <a:ln w="5080">
            <a:solidFill>
              <a:srgbClr val="D0D5DD"/>
            </a:solidFill>
            <a:prstDash val="solid"/>
          </a:ln>
        </p:spPr>
      </p:sp>
      <p:sp>
        <p:nvSpPr>
          <p:cNvPr id="51" name="Text 49"/>
          <p:cNvSpPr/>
          <p:nvPr/>
        </p:nvSpPr>
        <p:spPr>
          <a:xfrm>
            <a:off x="2084832" y="4791456"/>
            <a:ext cx="2139696" cy="566928"/>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Auto timestamp via Mongoose</a:t>
            </a:r>
            <a:endParaRPr lang="en-US" sz="950" dirty="0"/>
          </a:p>
        </p:txBody>
      </p:sp>
      <p:sp>
        <p:nvSpPr>
          <p:cNvPr id="52" name="Shape 50"/>
          <p:cNvSpPr/>
          <p:nvPr/>
        </p:nvSpPr>
        <p:spPr>
          <a:xfrm>
            <a:off x="4526280" y="749808"/>
            <a:ext cx="4407408" cy="3986784"/>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53" name="Shape 51"/>
          <p:cNvSpPr/>
          <p:nvPr/>
        </p:nvSpPr>
        <p:spPr>
          <a:xfrm>
            <a:off x="4526280" y="749808"/>
            <a:ext cx="4407408" cy="384048"/>
          </a:xfrm>
          <a:prstGeom prst="rect">
            <a:avLst/>
          </a:prstGeom>
          <a:solidFill>
            <a:srgbClr val="193366"/>
          </a:solidFill>
          <a:ln w="12700">
            <a:solidFill>
              <a:srgbClr val="193366"/>
            </a:solidFill>
            <a:prstDash val="solid"/>
          </a:ln>
        </p:spPr>
      </p:sp>
      <p:sp>
        <p:nvSpPr>
          <p:cNvPr id="54" name="Text 52"/>
          <p:cNvSpPr/>
          <p:nvPr/>
        </p:nvSpPr>
        <p:spPr>
          <a:xfrm>
            <a:off x="4617720" y="749808"/>
            <a:ext cx="4224528" cy="384048"/>
          </a:xfrm>
          <a:prstGeom prst="rect">
            <a:avLst/>
          </a:prstGeom>
          <a:noFill/>
          <a:ln/>
        </p:spPr>
        <p:txBody>
          <a:bodyPr wrap="square" lIns="0" tIns="0" rIns="0" bIns="0" rtlCol="0" anchor="ctr"/>
          <a:lstStyle/>
          <a:p>
            <a:pPr marL="0" indent="0">
              <a:buNone/>
            </a:pPr>
            <a:r>
              <a:rPr lang="en-US" sz="1300" b="1" dirty="0">
                <a:solidFill>
                  <a:srgbClr val="FEBD01"/>
                </a:solidFill>
                <a:latin typeface="Arial" pitchFamily="34" charset="0"/>
                <a:ea typeface="Arial" pitchFamily="34" charset="-122"/>
                <a:cs typeface="Arial" pitchFamily="34" charset="-120"/>
              </a:rPr>
              <a:t>journals  Collection</a:t>
            </a:r>
            <a:endParaRPr lang="en-US" sz="1300" dirty="0"/>
          </a:p>
        </p:txBody>
      </p:sp>
      <p:sp>
        <p:nvSpPr>
          <p:cNvPr id="55" name="Shape 53"/>
          <p:cNvSpPr/>
          <p:nvPr/>
        </p:nvSpPr>
        <p:spPr>
          <a:xfrm>
            <a:off x="4590288" y="1188720"/>
            <a:ext cx="960120" cy="256032"/>
          </a:xfrm>
          <a:prstGeom prst="rect">
            <a:avLst/>
          </a:prstGeom>
          <a:solidFill>
            <a:srgbClr val="FEBD01"/>
          </a:solidFill>
          <a:ln w="12700">
            <a:solidFill>
              <a:srgbClr val="FEBD01"/>
            </a:solidFill>
            <a:prstDash val="solid"/>
          </a:ln>
        </p:spPr>
      </p:sp>
      <p:sp>
        <p:nvSpPr>
          <p:cNvPr id="56" name="Text 54"/>
          <p:cNvSpPr/>
          <p:nvPr/>
        </p:nvSpPr>
        <p:spPr>
          <a:xfrm>
            <a:off x="4626864" y="1188720"/>
            <a:ext cx="905256" cy="256032"/>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Field</a:t>
            </a:r>
            <a:endParaRPr lang="en-US" sz="950" dirty="0"/>
          </a:p>
        </p:txBody>
      </p:sp>
      <p:sp>
        <p:nvSpPr>
          <p:cNvPr id="57" name="Shape 55"/>
          <p:cNvSpPr/>
          <p:nvPr/>
        </p:nvSpPr>
        <p:spPr>
          <a:xfrm>
            <a:off x="5577840" y="1188720"/>
            <a:ext cx="868680" cy="256032"/>
          </a:xfrm>
          <a:prstGeom prst="rect">
            <a:avLst/>
          </a:prstGeom>
          <a:solidFill>
            <a:srgbClr val="FEBD01"/>
          </a:solidFill>
          <a:ln w="12700">
            <a:solidFill>
              <a:srgbClr val="FEBD01"/>
            </a:solidFill>
            <a:prstDash val="solid"/>
          </a:ln>
        </p:spPr>
      </p:sp>
      <p:sp>
        <p:nvSpPr>
          <p:cNvPr id="58" name="Text 56"/>
          <p:cNvSpPr/>
          <p:nvPr/>
        </p:nvSpPr>
        <p:spPr>
          <a:xfrm>
            <a:off x="5614416" y="1188720"/>
            <a:ext cx="813816" cy="256032"/>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Type</a:t>
            </a:r>
            <a:endParaRPr lang="en-US" sz="950" dirty="0"/>
          </a:p>
        </p:txBody>
      </p:sp>
      <p:sp>
        <p:nvSpPr>
          <p:cNvPr id="59" name="Shape 57"/>
          <p:cNvSpPr/>
          <p:nvPr/>
        </p:nvSpPr>
        <p:spPr>
          <a:xfrm>
            <a:off x="6473952" y="1188720"/>
            <a:ext cx="2304288" cy="256032"/>
          </a:xfrm>
          <a:prstGeom prst="rect">
            <a:avLst/>
          </a:prstGeom>
          <a:solidFill>
            <a:srgbClr val="FEBD01"/>
          </a:solidFill>
          <a:ln w="12700">
            <a:solidFill>
              <a:srgbClr val="FEBD01"/>
            </a:solidFill>
            <a:prstDash val="solid"/>
          </a:ln>
        </p:spPr>
      </p:sp>
      <p:sp>
        <p:nvSpPr>
          <p:cNvPr id="60" name="Text 58"/>
          <p:cNvSpPr/>
          <p:nvPr/>
        </p:nvSpPr>
        <p:spPr>
          <a:xfrm>
            <a:off x="6510528" y="1188720"/>
            <a:ext cx="2249424" cy="256032"/>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Description</a:t>
            </a:r>
            <a:endParaRPr lang="en-US" sz="950" dirty="0"/>
          </a:p>
        </p:txBody>
      </p:sp>
      <p:sp>
        <p:nvSpPr>
          <p:cNvPr id="61" name="Shape 59"/>
          <p:cNvSpPr/>
          <p:nvPr/>
        </p:nvSpPr>
        <p:spPr>
          <a:xfrm>
            <a:off x="4590288" y="1463040"/>
            <a:ext cx="960120" cy="420624"/>
          </a:xfrm>
          <a:prstGeom prst="rect">
            <a:avLst/>
          </a:prstGeom>
          <a:solidFill>
            <a:srgbClr val="F5F6FA"/>
          </a:solidFill>
          <a:ln w="5080">
            <a:solidFill>
              <a:srgbClr val="D0D5DD"/>
            </a:solidFill>
            <a:prstDash val="solid"/>
          </a:ln>
        </p:spPr>
      </p:sp>
      <p:sp>
        <p:nvSpPr>
          <p:cNvPr id="62" name="Text 60"/>
          <p:cNvSpPr/>
          <p:nvPr/>
        </p:nvSpPr>
        <p:spPr>
          <a:xfrm>
            <a:off x="4626864" y="1490472"/>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_id</a:t>
            </a:r>
            <a:endParaRPr lang="en-US" sz="950" dirty="0"/>
          </a:p>
        </p:txBody>
      </p:sp>
      <p:sp>
        <p:nvSpPr>
          <p:cNvPr id="63" name="Shape 61"/>
          <p:cNvSpPr/>
          <p:nvPr/>
        </p:nvSpPr>
        <p:spPr>
          <a:xfrm>
            <a:off x="5577840" y="1463040"/>
            <a:ext cx="868680" cy="420624"/>
          </a:xfrm>
          <a:prstGeom prst="rect">
            <a:avLst/>
          </a:prstGeom>
          <a:solidFill>
            <a:srgbClr val="F5F6FA"/>
          </a:solidFill>
          <a:ln w="5080">
            <a:solidFill>
              <a:srgbClr val="D0D5DD"/>
            </a:solidFill>
            <a:prstDash val="solid"/>
          </a:ln>
        </p:spPr>
      </p:sp>
      <p:sp>
        <p:nvSpPr>
          <p:cNvPr id="64" name="Text 62"/>
          <p:cNvSpPr/>
          <p:nvPr/>
        </p:nvSpPr>
        <p:spPr>
          <a:xfrm>
            <a:off x="5614416" y="1490472"/>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ObjectId</a:t>
            </a:r>
            <a:endParaRPr lang="en-US" sz="900" dirty="0"/>
          </a:p>
        </p:txBody>
      </p:sp>
      <p:sp>
        <p:nvSpPr>
          <p:cNvPr id="65" name="Shape 63"/>
          <p:cNvSpPr/>
          <p:nvPr/>
        </p:nvSpPr>
        <p:spPr>
          <a:xfrm>
            <a:off x="6473952" y="1463040"/>
            <a:ext cx="2304288" cy="420624"/>
          </a:xfrm>
          <a:prstGeom prst="rect">
            <a:avLst/>
          </a:prstGeom>
          <a:solidFill>
            <a:srgbClr val="F5F6FA"/>
          </a:solidFill>
          <a:ln w="5080">
            <a:solidFill>
              <a:srgbClr val="D0D5DD"/>
            </a:solidFill>
            <a:prstDash val="solid"/>
          </a:ln>
        </p:spPr>
      </p:sp>
      <p:sp>
        <p:nvSpPr>
          <p:cNvPr id="66" name="Text 64"/>
          <p:cNvSpPr/>
          <p:nvPr/>
        </p:nvSpPr>
        <p:spPr>
          <a:xfrm>
            <a:off x="6510528" y="1490472"/>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Auto-generated document ID</a:t>
            </a:r>
            <a:endParaRPr lang="en-US" sz="950" dirty="0"/>
          </a:p>
        </p:txBody>
      </p:sp>
      <p:sp>
        <p:nvSpPr>
          <p:cNvPr id="67" name="Shape 65"/>
          <p:cNvSpPr/>
          <p:nvPr/>
        </p:nvSpPr>
        <p:spPr>
          <a:xfrm>
            <a:off x="4590288" y="1901952"/>
            <a:ext cx="960120" cy="420624"/>
          </a:xfrm>
          <a:prstGeom prst="rect">
            <a:avLst/>
          </a:prstGeom>
          <a:solidFill>
            <a:srgbClr val="FFFFFF"/>
          </a:solidFill>
          <a:ln w="5080">
            <a:solidFill>
              <a:srgbClr val="D0D5DD"/>
            </a:solidFill>
            <a:prstDash val="solid"/>
          </a:ln>
        </p:spPr>
      </p:sp>
      <p:sp>
        <p:nvSpPr>
          <p:cNvPr id="68" name="Text 66"/>
          <p:cNvSpPr/>
          <p:nvPr/>
        </p:nvSpPr>
        <p:spPr>
          <a:xfrm>
            <a:off x="4626864" y="1929384"/>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userId</a:t>
            </a:r>
            <a:endParaRPr lang="en-US" sz="950" dirty="0"/>
          </a:p>
        </p:txBody>
      </p:sp>
      <p:sp>
        <p:nvSpPr>
          <p:cNvPr id="69" name="Shape 67"/>
          <p:cNvSpPr/>
          <p:nvPr/>
        </p:nvSpPr>
        <p:spPr>
          <a:xfrm>
            <a:off x="5577840" y="1901952"/>
            <a:ext cx="868680" cy="420624"/>
          </a:xfrm>
          <a:prstGeom prst="rect">
            <a:avLst/>
          </a:prstGeom>
          <a:solidFill>
            <a:srgbClr val="FFFFFF"/>
          </a:solidFill>
          <a:ln w="5080">
            <a:solidFill>
              <a:srgbClr val="D0D5DD"/>
            </a:solidFill>
            <a:prstDash val="solid"/>
          </a:ln>
        </p:spPr>
      </p:sp>
      <p:sp>
        <p:nvSpPr>
          <p:cNvPr id="70" name="Text 68"/>
          <p:cNvSpPr/>
          <p:nvPr/>
        </p:nvSpPr>
        <p:spPr>
          <a:xfrm>
            <a:off x="5614416" y="1929384"/>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ObjectId</a:t>
            </a:r>
            <a:endParaRPr lang="en-US" sz="900" dirty="0"/>
          </a:p>
        </p:txBody>
      </p:sp>
      <p:sp>
        <p:nvSpPr>
          <p:cNvPr id="71" name="Shape 69"/>
          <p:cNvSpPr/>
          <p:nvPr/>
        </p:nvSpPr>
        <p:spPr>
          <a:xfrm>
            <a:off x="6473952" y="1901952"/>
            <a:ext cx="2304288" cy="420624"/>
          </a:xfrm>
          <a:prstGeom prst="rect">
            <a:avLst/>
          </a:prstGeom>
          <a:solidFill>
            <a:srgbClr val="FFFFFF"/>
          </a:solidFill>
          <a:ln w="5080">
            <a:solidFill>
              <a:srgbClr val="D0D5DD"/>
            </a:solidFill>
            <a:prstDash val="solid"/>
          </a:ln>
        </p:spPr>
      </p:sp>
      <p:sp>
        <p:nvSpPr>
          <p:cNvPr id="72" name="Text 70"/>
          <p:cNvSpPr/>
          <p:nvPr/>
        </p:nvSpPr>
        <p:spPr>
          <a:xfrm>
            <a:off x="6510528" y="1929384"/>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Foreign key → users._id (1-to-N)</a:t>
            </a:r>
            <a:endParaRPr lang="en-US" sz="950" dirty="0"/>
          </a:p>
        </p:txBody>
      </p:sp>
      <p:sp>
        <p:nvSpPr>
          <p:cNvPr id="73" name="Shape 71"/>
          <p:cNvSpPr/>
          <p:nvPr/>
        </p:nvSpPr>
        <p:spPr>
          <a:xfrm>
            <a:off x="4590288" y="2340864"/>
            <a:ext cx="960120" cy="420624"/>
          </a:xfrm>
          <a:prstGeom prst="rect">
            <a:avLst/>
          </a:prstGeom>
          <a:solidFill>
            <a:srgbClr val="F5F6FA"/>
          </a:solidFill>
          <a:ln w="5080">
            <a:solidFill>
              <a:srgbClr val="D0D5DD"/>
            </a:solidFill>
            <a:prstDash val="solid"/>
          </a:ln>
        </p:spPr>
      </p:sp>
      <p:sp>
        <p:nvSpPr>
          <p:cNvPr id="74" name="Text 72"/>
          <p:cNvSpPr/>
          <p:nvPr/>
        </p:nvSpPr>
        <p:spPr>
          <a:xfrm>
            <a:off x="4626864" y="2368296"/>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title</a:t>
            </a:r>
            <a:endParaRPr lang="en-US" sz="950" dirty="0"/>
          </a:p>
        </p:txBody>
      </p:sp>
      <p:sp>
        <p:nvSpPr>
          <p:cNvPr id="75" name="Shape 73"/>
          <p:cNvSpPr/>
          <p:nvPr/>
        </p:nvSpPr>
        <p:spPr>
          <a:xfrm>
            <a:off x="5577840" y="2340864"/>
            <a:ext cx="868680" cy="420624"/>
          </a:xfrm>
          <a:prstGeom prst="rect">
            <a:avLst/>
          </a:prstGeom>
          <a:solidFill>
            <a:srgbClr val="F5F6FA"/>
          </a:solidFill>
          <a:ln w="5080">
            <a:solidFill>
              <a:srgbClr val="D0D5DD"/>
            </a:solidFill>
            <a:prstDash val="solid"/>
          </a:ln>
        </p:spPr>
      </p:sp>
      <p:sp>
        <p:nvSpPr>
          <p:cNvPr id="76" name="Text 74"/>
          <p:cNvSpPr/>
          <p:nvPr/>
        </p:nvSpPr>
        <p:spPr>
          <a:xfrm>
            <a:off x="5614416" y="2368296"/>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String</a:t>
            </a:r>
            <a:endParaRPr lang="en-US" sz="900" dirty="0"/>
          </a:p>
        </p:txBody>
      </p:sp>
      <p:sp>
        <p:nvSpPr>
          <p:cNvPr id="77" name="Shape 75"/>
          <p:cNvSpPr/>
          <p:nvPr/>
        </p:nvSpPr>
        <p:spPr>
          <a:xfrm>
            <a:off x="6473952" y="2340864"/>
            <a:ext cx="2304288" cy="420624"/>
          </a:xfrm>
          <a:prstGeom prst="rect">
            <a:avLst/>
          </a:prstGeom>
          <a:solidFill>
            <a:srgbClr val="F5F6FA"/>
          </a:solidFill>
          <a:ln w="5080">
            <a:solidFill>
              <a:srgbClr val="D0D5DD"/>
            </a:solidFill>
            <a:prstDash val="solid"/>
          </a:ln>
        </p:spPr>
      </p:sp>
      <p:sp>
        <p:nvSpPr>
          <p:cNvPr id="78" name="Text 76"/>
          <p:cNvSpPr/>
          <p:nvPr/>
        </p:nvSpPr>
        <p:spPr>
          <a:xfrm>
            <a:off x="6510528" y="2368296"/>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Entry heading</a:t>
            </a:r>
            <a:endParaRPr lang="en-US" sz="950" dirty="0"/>
          </a:p>
        </p:txBody>
      </p:sp>
      <p:sp>
        <p:nvSpPr>
          <p:cNvPr id="79" name="Shape 77"/>
          <p:cNvSpPr/>
          <p:nvPr/>
        </p:nvSpPr>
        <p:spPr>
          <a:xfrm>
            <a:off x="4590288" y="2779776"/>
            <a:ext cx="960120" cy="420624"/>
          </a:xfrm>
          <a:prstGeom prst="rect">
            <a:avLst/>
          </a:prstGeom>
          <a:solidFill>
            <a:srgbClr val="FFFFFF"/>
          </a:solidFill>
          <a:ln w="5080">
            <a:solidFill>
              <a:srgbClr val="D0D5DD"/>
            </a:solidFill>
            <a:prstDash val="solid"/>
          </a:ln>
        </p:spPr>
      </p:sp>
      <p:sp>
        <p:nvSpPr>
          <p:cNvPr id="80" name="Text 78"/>
          <p:cNvSpPr/>
          <p:nvPr/>
        </p:nvSpPr>
        <p:spPr>
          <a:xfrm>
            <a:off x="4626864" y="2807208"/>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content</a:t>
            </a:r>
            <a:endParaRPr lang="en-US" sz="950" dirty="0"/>
          </a:p>
        </p:txBody>
      </p:sp>
      <p:sp>
        <p:nvSpPr>
          <p:cNvPr id="81" name="Shape 79"/>
          <p:cNvSpPr/>
          <p:nvPr/>
        </p:nvSpPr>
        <p:spPr>
          <a:xfrm>
            <a:off x="5577840" y="2779776"/>
            <a:ext cx="868680" cy="420624"/>
          </a:xfrm>
          <a:prstGeom prst="rect">
            <a:avLst/>
          </a:prstGeom>
          <a:solidFill>
            <a:srgbClr val="FFFFFF"/>
          </a:solidFill>
          <a:ln w="5080">
            <a:solidFill>
              <a:srgbClr val="D0D5DD"/>
            </a:solidFill>
            <a:prstDash val="solid"/>
          </a:ln>
        </p:spPr>
      </p:sp>
      <p:sp>
        <p:nvSpPr>
          <p:cNvPr id="82" name="Text 80"/>
          <p:cNvSpPr/>
          <p:nvPr/>
        </p:nvSpPr>
        <p:spPr>
          <a:xfrm>
            <a:off x="5614416" y="2807208"/>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String</a:t>
            </a:r>
            <a:endParaRPr lang="en-US" sz="900" dirty="0"/>
          </a:p>
        </p:txBody>
      </p:sp>
      <p:sp>
        <p:nvSpPr>
          <p:cNvPr id="83" name="Shape 81"/>
          <p:cNvSpPr/>
          <p:nvPr/>
        </p:nvSpPr>
        <p:spPr>
          <a:xfrm>
            <a:off x="6473952" y="2779776"/>
            <a:ext cx="2304288" cy="420624"/>
          </a:xfrm>
          <a:prstGeom prst="rect">
            <a:avLst/>
          </a:prstGeom>
          <a:solidFill>
            <a:srgbClr val="FFFFFF"/>
          </a:solidFill>
          <a:ln w="5080">
            <a:solidFill>
              <a:srgbClr val="D0D5DD"/>
            </a:solidFill>
            <a:prstDash val="solid"/>
          </a:ln>
        </p:spPr>
      </p:sp>
      <p:sp>
        <p:nvSpPr>
          <p:cNvPr id="84" name="Text 82"/>
          <p:cNvSpPr/>
          <p:nvPr/>
        </p:nvSpPr>
        <p:spPr>
          <a:xfrm>
            <a:off x="6510528" y="2807208"/>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Min 10 chars enforced by Mongoose</a:t>
            </a:r>
            <a:endParaRPr lang="en-US" sz="950" dirty="0"/>
          </a:p>
        </p:txBody>
      </p:sp>
      <p:sp>
        <p:nvSpPr>
          <p:cNvPr id="85" name="Shape 83"/>
          <p:cNvSpPr/>
          <p:nvPr/>
        </p:nvSpPr>
        <p:spPr>
          <a:xfrm>
            <a:off x="4590288" y="3218688"/>
            <a:ext cx="960120" cy="420624"/>
          </a:xfrm>
          <a:prstGeom prst="rect">
            <a:avLst/>
          </a:prstGeom>
          <a:solidFill>
            <a:srgbClr val="F5F6FA"/>
          </a:solidFill>
          <a:ln w="5080">
            <a:solidFill>
              <a:srgbClr val="D0D5DD"/>
            </a:solidFill>
            <a:prstDash val="solid"/>
          </a:ln>
        </p:spPr>
      </p:sp>
      <p:sp>
        <p:nvSpPr>
          <p:cNvPr id="86" name="Text 84"/>
          <p:cNvSpPr/>
          <p:nvPr/>
        </p:nvSpPr>
        <p:spPr>
          <a:xfrm>
            <a:off x="4626864" y="3246120"/>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mood</a:t>
            </a:r>
            <a:endParaRPr lang="en-US" sz="950" dirty="0"/>
          </a:p>
        </p:txBody>
      </p:sp>
      <p:sp>
        <p:nvSpPr>
          <p:cNvPr id="87" name="Shape 85"/>
          <p:cNvSpPr/>
          <p:nvPr/>
        </p:nvSpPr>
        <p:spPr>
          <a:xfrm>
            <a:off x="5577840" y="3218688"/>
            <a:ext cx="868680" cy="420624"/>
          </a:xfrm>
          <a:prstGeom prst="rect">
            <a:avLst/>
          </a:prstGeom>
          <a:solidFill>
            <a:srgbClr val="F5F6FA"/>
          </a:solidFill>
          <a:ln w="5080">
            <a:solidFill>
              <a:srgbClr val="D0D5DD"/>
            </a:solidFill>
            <a:prstDash val="solid"/>
          </a:ln>
        </p:spPr>
      </p:sp>
      <p:sp>
        <p:nvSpPr>
          <p:cNvPr id="88" name="Text 86"/>
          <p:cNvSpPr/>
          <p:nvPr/>
        </p:nvSpPr>
        <p:spPr>
          <a:xfrm>
            <a:off x="5614416" y="3246120"/>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Array</a:t>
            </a:r>
            <a:endParaRPr lang="en-US" sz="900" dirty="0"/>
          </a:p>
        </p:txBody>
      </p:sp>
      <p:sp>
        <p:nvSpPr>
          <p:cNvPr id="89" name="Shape 87"/>
          <p:cNvSpPr/>
          <p:nvPr/>
        </p:nvSpPr>
        <p:spPr>
          <a:xfrm>
            <a:off x="6473952" y="3218688"/>
            <a:ext cx="2304288" cy="420624"/>
          </a:xfrm>
          <a:prstGeom prst="rect">
            <a:avLst/>
          </a:prstGeom>
          <a:solidFill>
            <a:srgbClr val="F5F6FA"/>
          </a:solidFill>
          <a:ln w="5080">
            <a:solidFill>
              <a:srgbClr val="D0D5DD"/>
            </a:solidFill>
            <a:prstDash val="solid"/>
          </a:ln>
        </p:spPr>
      </p:sp>
      <p:sp>
        <p:nvSpPr>
          <p:cNvPr id="90" name="Text 88"/>
          <p:cNvSpPr/>
          <p:nvPr/>
        </p:nvSpPr>
        <p:spPr>
          <a:xfrm>
            <a:off x="6510528" y="3246120"/>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Multi-select enum list (15+ options)</a:t>
            </a:r>
            <a:endParaRPr lang="en-US" sz="950" dirty="0"/>
          </a:p>
        </p:txBody>
      </p:sp>
      <p:sp>
        <p:nvSpPr>
          <p:cNvPr id="91" name="Shape 89"/>
          <p:cNvSpPr/>
          <p:nvPr/>
        </p:nvSpPr>
        <p:spPr>
          <a:xfrm>
            <a:off x="4590288" y="3657600"/>
            <a:ext cx="960120" cy="420624"/>
          </a:xfrm>
          <a:prstGeom prst="rect">
            <a:avLst/>
          </a:prstGeom>
          <a:solidFill>
            <a:srgbClr val="FFFFFF"/>
          </a:solidFill>
          <a:ln w="5080">
            <a:solidFill>
              <a:srgbClr val="D0D5DD"/>
            </a:solidFill>
            <a:prstDash val="solid"/>
          </a:ln>
        </p:spPr>
      </p:sp>
      <p:sp>
        <p:nvSpPr>
          <p:cNvPr id="92" name="Text 90"/>
          <p:cNvSpPr/>
          <p:nvPr/>
        </p:nvSpPr>
        <p:spPr>
          <a:xfrm>
            <a:off x="4626864" y="3685032"/>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dayScore</a:t>
            </a:r>
            <a:endParaRPr lang="en-US" sz="950" dirty="0"/>
          </a:p>
        </p:txBody>
      </p:sp>
      <p:sp>
        <p:nvSpPr>
          <p:cNvPr id="93" name="Shape 91"/>
          <p:cNvSpPr/>
          <p:nvPr/>
        </p:nvSpPr>
        <p:spPr>
          <a:xfrm>
            <a:off x="5577840" y="3657600"/>
            <a:ext cx="868680" cy="420624"/>
          </a:xfrm>
          <a:prstGeom prst="rect">
            <a:avLst/>
          </a:prstGeom>
          <a:solidFill>
            <a:srgbClr val="FFFFFF"/>
          </a:solidFill>
          <a:ln w="5080">
            <a:solidFill>
              <a:srgbClr val="D0D5DD"/>
            </a:solidFill>
            <a:prstDash val="solid"/>
          </a:ln>
        </p:spPr>
      </p:sp>
      <p:sp>
        <p:nvSpPr>
          <p:cNvPr id="94" name="Text 92"/>
          <p:cNvSpPr/>
          <p:nvPr/>
        </p:nvSpPr>
        <p:spPr>
          <a:xfrm>
            <a:off x="5614416" y="3685032"/>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Number</a:t>
            </a:r>
            <a:endParaRPr lang="en-US" sz="900" dirty="0"/>
          </a:p>
        </p:txBody>
      </p:sp>
      <p:sp>
        <p:nvSpPr>
          <p:cNvPr id="95" name="Shape 93"/>
          <p:cNvSpPr/>
          <p:nvPr/>
        </p:nvSpPr>
        <p:spPr>
          <a:xfrm>
            <a:off x="6473952" y="3657600"/>
            <a:ext cx="2304288" cy="420624"/>
          </a:xfrm>
          <a:prstGeom prst="rect">
            <a:avLst/>
          </a:prstGeom>
          <a:solidFill>
            <a:srgbClr val="FFFFFF"/>
          </a:solidFill>
          <a:ln w="5080">
            <a:solidFill>
              <a:srgbClr val="D0D5DD"/>
            </a:solidFill>
            <a:prstDash val="solid"/>
          </a:ln>
        </p:spPr>
      </p:sp>
      <p:sp>
        <p:nvSpPr>
          <p:cNvPr id="96" name="Text 94"/>
          <p:cNvSpPr/>
          <p:nvPr/>
        </p:nvSpPr>
        <p:spPr>
          <a:xfrm>
            <a:off x="6510528" y="3685032"/>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Boundary: 1–10 integer constraint</a:t>
            </a:r>
            <a:endParaRPr lang="en-US" sz="950" dirty="0"/>
          </a:p>
        </p:txBody>
      </p:sp>
      <p:sp>
        <p:nvSpPr>
          <p:cNvPr id="97" name="Shape 95"/>
          <p:cNvSpPr/>
          <p:nvPr/>
        </p:nvSpPr>
        <p:spPr>
          <a:xfrm>
            <a:off x="4590288" y="4096512"/>
            <a:ext cx="960120" cy="420624"/>
          </a:xfrm>
          <a:prstGeom prst="rect">
            <a:avLst/>
          </a:prstGeom>
          <a:solidFill>
            <a:srgbClr val="F5F6FA"/>
          </a:solidFill>
          <a:ln w="5080">
            <a:solidFill>
              <a:srgbClr val="D0D5DD"/>
            </a:solidFill>
            <a:prstDash val="solid"/>
          </a:ln>
        </p:spPr>
      </p:sp>
      <p:sp>
        <p:nvSpPr>
          <p:cNvPr id="98" name="Text 96"/>
          <p:cNvSpPr/>
          <p:nvPr/>
        </p:nvSpPr>
        <p:spPr>
          <a:xfrm>
            <a:off x="4626864" y="4123944"/>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weather</a:t>
            </a:r>
            <a:endParaRPr lang="en-US" sz="950" dirty="0"/>
          </a:p>
        </p:txBody>
      </p:sp>
      <p:sp>
        <p:nvSpPr>
          <p:cNvPr id="99" name="Shape 97"/>
          <p:cNvSpPr/>
          <p:nvPr/>
        </p:nvSpPr>
        <p:spPr>
          <a:xfrm>
            <a:off x="5577840" y="4096512"/>
            <a:ext cx="868680" cy="420624"/>
          </a:xfrm>
          <a:prstGeom prst="rect">
            <a:avLst/>
          </a:prstGeom>
          <a:solidFill>
            <a:srgbClr val="F5F6FA"/>
          </a:solidFill>
          <a:ln w="5080">
            <a:solidFill>
              <a:srgbClr val="D0D5DD"/>
            </a:solidFill>
            <a:prstDash val="solid"/>
          </a:ln>
        </p:spPr>
      </p:sp>
      <p:sp>
        <p:nvSpPr>
          <p:cNvPr id="100" name="Text 98"/>
          <p:cNvSpPr/>
          <p:nvPr/>
        </p:nvSpPr>
        <p:spPr>
          <a:xfrm>
            <a:off x="5614416" y="4123944"/>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String</a:t>
            </a:r>
            <a:endParaRPr lang="en-US" sz="900" dirty="0"/>
          </a:p>
        </p:txBody>
      </p:sp>
      <p:sp>
        <p:nvSpPr>
          <p:cNvPr id="101" name="Shape 99"/>
          <p:cNvSpPr/>
          <p:nvPr/>
        </p:nvSpPr>
        <p:spPr>
          <a:xfrm>
            <a:off x="6473952" y="4096512"/>
            <a:ext cx="2304288" cy="420624"/>
          </a:xfrm>
          <a:prstGeom prst="rect">
            <a:avLst/>
          </a:prstGeom>
          <a:solidFill>
            <a:srgbClr val="F5F6FA"/>
          </a:solidFill>
          <a:ln w="5080">
            <a:solidFill>
              <a:srgbClr val="D0D5DD"/>
            </a:solidFill>
            <a:prstDash val="solid"/>
          </a:ln>
        </p:spPr>
      </p:sp>
      <p:sp>
        <p:nvSpPr>
          <p:cNvPr id="102" name="Text 100"/>
          <p:cNvSpPr/>
          <p:nvPr/>
        </p:nvSpPr>
        <p:spPr>
          <a:xfrm>
            <a:off x="6510528" y="4123944"/>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Optional — e.g. 'Sunny', 'Rainy'</a:t>
            </a:r>
            <a:endParaRPr lang="en-US" sz="950" dirty="0"/>
          </a:p>
        </p:txBody>
      </p:sp>
      <p:sp>
        <p:nvSpPr>
          <p:cNvPr id="103" name="Shape 101"/>
          <p:cNvSpPr/>
          <p:nvPr/>
        </p:nvSpPr>
        <p:spPr>
          <a:xfrm>
            <a:off x="4590288" y="4535424"/>
            <a:ext cx="960120" cy="420624"/>
          </a:xfrm>
          <a:prstGeom prst="rect">
            <a:avLst/>
          </a:prstGeom>
          <a:solidFill>
            <a:srgbClr val="FFFFFF"/>
          </a:solidFill>
          <a:ln w="5080">
            <a:solidFill>
              <a:srgbClr val="D0D5DD"/>
            </a:solidFill>
            <a:prstDash val="solid"/>
          </a:ln>
        </p:spPr>
      </p:sp>
      <p:sp>
        <p:nvSpPr>
          <p:cNvPr id="104" name="Text 102"/>
          <p:cNvSpPr/>
          <p:nvPr/>
        </p:nvSpPr>
        <p:spPr>
          <a:xfrm>
            <a:off x="4626864" y="4562856"/>
            <a:ext cx="905256" cy="365760"/>
          </a:xfrm>
          <a:prstGeom prst="rect">
            <a:avLst/>
          </a:prstGeom>
          <a:noFill/>
          <a:ln/>
        </p:spPr>
        <p:txBody>
          <a:bodyPr wrap="square" rtlCol="0" anchor="ctr"/>
          <a:lstStyle/>
          <a:p>
            <a:pPr marL="0" indent="0">
              <a:buNone/>
            </a:pPr>
            <a:r>
              <a:rPr lang="en-US" sz="950" b="1" dirty="0">
                <a:solidFill>
                  <a:srgbClr val="29282C"/>
                </a:solidFill>
                <a:latin typeface="Arial" pitchFamily="34" charset="0"/>
                <a:ea typeface="Arial" pitchFamily="34" charset="-122"/>
                <a:cs typeface="Arial" pitchFamily="34" charset="-120"/>
              </a:rPr>
              <a:t>date</a:t>
            </a:r>
            <a:endParaRPr lang="en-US" sz="950" dirty="0"/>
          </a:p>
        </p:txBody>
      </p:sp>
      <p:sp>
        <p:nvSpPr>
          <p:cNvPr id="105" name="Shape 103"/>
          <p:cNvSpPr/>
          <p:nvPr/>
        </p:nvSpPr>
        <p:spPr>
          <a:xfrm>
            <a:off x="5577840" y="4535424"/>
            <a:ext cx="868680" cy="420624"/>
          </a:xfrm>
          <a:prstGeom prst="rect">
            <a:avLst/>
          </a:prstGeom>
          <a:solidFill>
            <a:srgbClr val="FFFFFF"/>
          </a:solidFill>
          <a:ln w="5080">
            <a:solidFill>
              <a:srgbClr val="D0D5DD"/>
            </a:solidFill>
            <a:prstDash val="solid"/>
          </a:ln>
        </p:spPr>
      </p:sp>
      <p:sp>
        <p:nvSpPr>
          <p:cNvPr id="106" name="Text 104"/>
          <p:cNvSpPr/>
          <p:nvPr/>
        </p:nvSpPr>
        <p:spPr>
          <a:xfrm>
            <a:off x="5614416" y="4562856"/>
            <a:ext cx="813816" cy="365760"/>
          </a:xfrm>
          <a:prstGeom prst="rect">
            <a:avLst/>
          </a:prstGeom>
          <a:noFill/>
          <a:ln/>
        </p:spPr>
        <p:txBody>
          <a:bodyPr wrap="square" rtlCol="0" anchor="ctr"/>
          <a:lstStyle/>
          <a:p>
            <a:pPr marL="0" indent="0">
              <a:buNone/>
            </a:pPr>
            <a:r>
              <a:rPr lang="en-US" sz="900" dirty="0">
                <a:solidFill>
                  <a:srgbClr val="FE4445"/>
                </a:solidFill>
                <a:latin typeface="Arial" pitchFamily="34" charset="0"/>
                <a:ea typeface="Arial" pitchFamily="34" charset="-122"/>
                <a:cs typeface="Arial" pitchFamily="34" charset="-120"/>
              </a:rPr>
              <a:t>Date</a:t>
            </a:r>
            <a:endParaRPr lang="en-US" sz="900" dirty="0"/>
          </a:p>
        </p:txBody>
      </p:sp>
      <p:sp>
        <p:nvSpPr>
          <p:cNvPr id="107" name="Shape 105"/>
          <p:cNvSpPr/>
          <p:nvPr/>
        </p:nvSpPr>
        <p:spPr>
          <a:xfrm>
            <a:off x="6473952" y="4535424"/>
            <a:ext cx="2304288" cy="420624"/>
          </a:xfrm>
          <a:prstGeom prst="rect">
            <a:avLst/>
          </a:prstGeom>
          <a:solidFill>
            <a:srgbClr val="FFFFFF"/>
          </a:solidFill>
          <a:ln w="5080">
            <a:solidFill>
              <a:srgbClr val="D0D5DD"/>
            </a:solidFill>
            <a:prstDash val="solid"/>
          </a:ln>
        </p:spPr>
      </p:sp>
      <p:sp>
        <p:nvSpPr>
          <p:cNvPr id="108" name="Text 106"/>
          <p:cNvSpPr/>
          <p:nvPr/>
        </p:nvSpPr>
        <p:spPr>
          <a:xfrm>
            <a:off x="6510528" y="4562856"/>
            <a:ext cx="2249424" cy="365760"/>
          </a:xfrm>
          <a:prstGeom prst="rect">
            <a:avLst/>
          </a:prstGeom>
          <a:noFill/>
          <a:ln/>
        </p:spPr>
        <p:txBody>
          <a:bodyPr wrap="square" rtlCol="0" anchor="ctr"/>
          <a:lstStyle/>
          <a:p>
            <a:pPr marL="0" indent="0">
              <a:buNone/>
            </a:pPr>
            <a:r>
              <a:rPr lang="en-US" sz="950" dirty="0">
                <a:solidFill>
                  <a:srgbClr val="29282C"/>
                </a:solidFill>
                <a:latin typeface="Arial" pitchFamily="34" charset="0"/>
                <a:ea typeface="Arial" pitchFamily="34" charset="-122"/>
                <a:cs typeface="Arial" pitchFamily="34" charset="-120"/>
              </a:rPr>
              <a:t>ISO 8601 timestamp — used by Archive</a:t>
            </a:r>
            <a:endParaRPr lang="en-US" sz="950" dirty="0"/>
          </a:p>
        </p:txBody>
      </p:sp>
      <p:sp>
        <p:nvSpPr>
          <p:cNvPr id="109" name="Shape 107"/>
          <p:cNvSpPr/>
          <p:nvPr/>
        </p:nvSpPr>
        <p:spPr>
          <a:xfrm>
            <a:off x="4526280" y="4279392"/>
            <a:ext cx="4407408" cy="402336"/>
          </a:xfrm>
          <a:prstGeom prst="rect">
            <a:avLst/>
          </a:prstGeom>
          <a:solidFill>
            <a:srgbClr val="F5F6FA"/>
          </a:solidFill>
          <a:ln w="12700">
            <a:solidFill>
              <a:srgbClr val="FEBD01"/>
            </a:solidFill>
            <a:prstDash val="solid"/>
          </a:ln>
        </p:spPr>
      </p:sp>
      <p:sp>
        <p:nvSpPr>
          <p:cNvPr id="110" name="Text 108"/>
          <p:cNvSpPr/>
          <p:nvPr/>
        </p:nvSpPr>
        <p:spPr>
          <a:xfrm>
            <a:off x="4617720" y="4279392"/>
            <a:ext cx="4224528" cy="402336"/>
          </a:xfrm>
          <a:prstGeom prst="rect">
            <a:avLst/>
          </a:prstGeom>
          <a:noFill/>
          <a:ln/>
        </p:spPr>
        <p:txBody>
          <a:bodyPr wrap="square" rtlCol="0" anchor="ctr"/>
          <a:lstStyle/>
          <a:p>
            <a:pPr marL="0" indent="0">
              <a:buNone/>
            </a:pPr>
            <a:r>
              <a:rPr lang="en-US" sz="1000" dirty="0">
                <a:solidFill>
                  <a:srgbClr val="193366"/>
                </a:solidFill>
                <a:latin typeface="Arial" pitchFamily="34" charset="0"/>
                <a:ea typeface="Arial" pitchFamily="34" charset="-122"/>
                <a:cs typeface="Arial" pitchFamily="34" charset="-120"/>
              </a:rPr>
              <a:t>Relationship:  One User  →  Unlimited Journal Entries  (1-to-N mapping via userId foreign key)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9336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Security Architecture</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4187952" cy="1993392"/>
          </a:xfrm>
          <a:prstGeom prst="rect">
            <a:avLst/>
          </a:prstGeom>
          <a:solidFill>
            <a:srgbClr val="1E3F7A"/>
          </a:solidFill>
          <a:ln w="12700">
            <a:solidFill>
              <a:srgbClr val="FEBD01"/>
            </a:solidFill>
            <a:prstDash val="solid"/>
          </a:ln>
        </p:spPr>
      </p:sp>
      <p:sp>
        <p:nvSpPr>
          <p:cNvPr id="8" name="Shape 6"/>
          <p:cNvSpPr/>
          <p:nvPr/>
        </p:nvSpPr>
        <p:spPr>
          <a:xfrm>
            <a:off x="201168" y="749808"/>
            <a:ext cx="4187952" cy="320040"/>
          </a:xfrm>
          <a:prstGeom prst="rect">
            <a:avLst/>
          </a:prstGeom>
          <a:solidFill>
            <a:srgbClr val="FEBD01"/>
          </a:solidFill>
          <a:ln w="12700">
            <a:solidFill>
              <a:srgbClr val="FEBD01"/>
            </a:solidFill>
            <a:prstDash val="solid"/>
          </a:ln>
        </p:spPr>
      </p:sp>
      <p:sp>
        <p:nvSpPr>
          <p:cNvPr id="9" name="Text 7"/>
          <p:cNvSpPr/>
          <p:nvPr/>
        </p:nvSpPr>
        <p:spPr>
          <a:xfrm>
            <a:off x="292608" y="749808"/>
            <a:ext cx="4050792" cy="320040"/>
          </a:xfrm>
          <a:prstGeom prst="rect">
            <a:avLst/>
          </a:prstGeom>
          <a:noFill/>
          <a:ln/>
        </p:spPr>
        <p:txBody>
          <a:bodyPr wrap="square" lIns="0" tIns="0" rIns="0" bIns="0" rtlCol="0" anchor="ctr"/>
          <a:lstStyle/>
          <a:p>
            <a:pPr marL="0" indent="0">
              <a:buNone/>
            </a:pPr>
            <a:r>
              <a:rPr lang="en-US" sz="1100" b="1" dirty="0">
                <a:solidFill>
                  <a:srgbClr val="29282C"/>
                </a:solidFill>
                <a:latin typeface="Arial" pitchFamily="34" charset="0"/>
                <a:ea typeface="Arial" pitchFamily="34" charset="-122"/>
                <a:cs typeface="Arial" pitchFamily="34" charset="-120"/>
              </a:rPr>
              <a:t>BCrypt Password Hashing</a:t>
            </a:r>
            <a:endParaRPr lang="en-US" sz="1100" dirty="0"/>
          </a:p>
        </p:txBody>
      </p:sp>
      <p:sp>
        <p:nvSpPr>
          <p:cNvPr id="10" name="Text 8"/>
          <p:cNvSpPr/>
          <p:nvPr/>
        </p:nvSpPr>
        <p:spPr>
          <a:xfrm>
            <a:off x="292608" y="1115568"/>
            <a:ext cx="4050792" cy="1536192"/>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A user's password is NEVER stored in MongoDB. When registering, the plain-text password is fed through BCrypt's one-way mathematical hash function with a salt factor of 10. The resulting 60-character hash string is what gets saved.</a:t>
            </a:r>
            <a:endParaRPr lang="en-US" sz="950" dirty="0"/>
          </a:p>
          <a:p>
            <a:pPr marL="0" indent="0">
              <a:buNone/>
            </a:pP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On login, BCrypt re-hashes the entered password and compares — original is never recoverable. Even if the database were stolen, attackers only see gibberish.</a:t>
            </a:r>
            <a:endParaRPr lang="en-US" sz="950" dirty="0"/>
          </a:p>
        </p:txBody>
      </p:sp>
      <p:sp>
        <p:nvSpPr>
          <p:cNvPr id="11" name="Shape 9"/>
          <p:cNvSpPr/>
          <p:nvPr/>
        </p:nvSpPr>
        <p:spPr>
          <a:xfrm>
            <a:off x="201168" y="2852928"/>
            <a:ext cx="4187952" cy="1901952"/>
          </a:xfrm>
          <a:prstGeom prst="rect">
            <a:avLst/>
          </a:prstGeom>
          <a:solidFill>
            <a:srgbClr val="1E3F7A"/>
          </a:solidFill>
          <a:ln w="12700">
            <a:solidFill>
              <a:srgbClr val="FEBD01"/>
            </a:solidFill>
            <a:prstDash val="solid"/>
          </a:ln>
        </p:spPr>
      </p:sp>
      <p:sp>
        <p:nvSpPr>
          <p:cNvPr id="12" name="Shape 10"/>
          <p:cNvSpPr/>
          <p:nvPr/>
        </p:nvSpPr>
        <p:spPr>
          <a:xfrm>
            <a:off x="201168" y="2852928"/>
            <a:ext cx="4187952" cy="320040"/>
          </a:xfrm>
          <a:prstGeom prst="rect">
            <a:avLst/>
          </a:prstGeom>
          <a:solidFill>
            <a:srgbClr val="FEBD01"/>
          </a:solidFill>
          <a:ln w="12700">
            <a:solidFill>
              <a:srgbClr val="FEBD01"/>
            </a:solidFill>
            <a:prstDash val="solid"/>
          </a:ln>
        </p:spPr>
      </p:sp>
      <p:sp>
        <p:nvSpPr>
          <p:cNvPr id="13" name="Text 11"/>
          <p:cNvSpPr/>
          <p:nvPr/>
        </p:nvSpPr>
        <p:spPr>
          <a:xfrm>
            <a:off x="292608" y="2852928"/>
            <a:ext cx="4050792" cy="320040"/>
          </a:xfrm>
          <a:prstGeom prst="rect">
            <a:avLst/>
          </a:prstGeom>
          <a:noFill/>
          <a:ln/>
        </p:spPr>
        <p:txBody>
          <a:bodyPr wrap="square" lIns="0" tIns="0" rIns="0" bIns="0" rtlCol="0" anchor="ctr"/>
          <a:lstStyle/>
          <a:p>
            <a:pPr marL="0" indent="0">
              <a:buNone/>
            </a:pPr>
            <a:r>
              <a:rPr lang="en-US" sz="1100" b="1" dirty="0">
                <a:solidFill>
                  <a:srgbClr val="29282C"/>
                </a:solidFill>
                <a:latin typeface="Arial" pitchFamily="34" charset="0"/>
                <a:ea typeface="Arial" pitchFamily="34" charset="-122"/>
                <a:cs typeface="Arial" pitchFamily="34" charset="-120"/>
              </a:rPr>
              <a:t>JWT Token Flow</a:t>
            </a:r>
            <a:endParaRPr lang="en-US" sz="1100" dirty="0"/>
          </a:p>
        </p:txBody>
      </p:sp>
      <p:sp>
        <p:nvSpPr>
          <p:cNvPr id="14" name="Text 12"/>
          <p:cNvSpPr/>
          <p:nvPr/>
        </p:nvSpPr>
        <p:spPr>
          <a:xfrm>
            <a:off x="292608" y="3218688"/>
            <a:ext cx="4050792" cy="1444752"/>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On successful login, the server issues a cryptographically signed JSON Web Token containing the userId, signed with a secret key stored in .env. The token expires in exactly 7 days.</a:t>
            </a:r>
            <a:endParaRPr lang="en-US" sz="950" dirty="0"/>
          </a:p>
          <a:p>
            <a:pPr marL="0" indent="0">
              <a:buNone/>
            </a:pP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The React frontend stores it in localStorage and attaches it to every API call. On day 8, the Express auth.js middleware throws HTTP 403 Forbidden and the Axios Interceptor redirects to login.</a:t>
            </a:r>
            <a:endParaRPr lang="en-US" sz="950" dirty="0"/>
          </a:p>
        </p:txBody>
      </p:sp>
      <p:sp>
        <p:nvSpPr>
          <p:cNvPr id="15" name="Shape 13"/>
          <p:cNvSpPr/>
          <p:nvPr/>
        </p:nvSpPr>
        <p:spPr>
          <a:xfrm>
            <a:off x="4553712" y="749808"/>
            <a:ext cx="4389120" cy="4005072"/>
          </a:xfrm>
          <a:prstGeom prst="rect">
            <a:avLst/>
          </a:prstGeom>
          <a:solidFill>
            <a:srgbClr val="1E3F7A"/>
          </a:solidFill>
          <a:ln w="12700">
            <a:solidFill>
              <a:srgbClr val="FEBD01"/>
            </a:solidFill>
            <a:prstDash val="solid"/>
          </a:ln>
        </p:spPr>
      </p:sp>
      <p:sp>
        <p:nvSpPr>
          <p:cNvPr id="16" name="Shape 14"/>
          <p:cNvSpPr/>
          <p:nvPr/>
        </p:nvSpPr>
        <p:spPr>
          <a:xfrm>
            <a:off x="4645152" y="822960"/>
            <a:ext cx="54864" cy="274320"/>
          </a:xfrm>
          <a:prstGeom prst="rect">
            <a:avLst/>
          </a:prstGeom>
          <a:solidFill>
            <a:srgbClr val="FEBD01"/>
          </a:solidFill>
          <a:ln w="12700">
            <a:solidFill>
              <a:srgbClr val="FEBD01"/>
            </a:solidFill>
            <a:prstDash val="solid"/>
          </a:ln>
        </p:spPr>
      </p:sp>
      <p:sp>
        <p:nvSpPr>
          <p:cNvPr id="17" name="Text 15"/>
          <p:cNvSpPr/>
          <p:nvPr/>
        </p:nvSpPr>
        <p:spPr>
          <a:xfrm>
            <a:off x="4773168" y="822960"/>
            <a:ext cx="3931920" cy="274320"/>
          </a:xfrm>
          <a:prstGeom prst="rect">
            <a:avLst/>
          </a:prstGeom>
          <a:noFill/>
          <a:ln/>
        </p:spPr>
        <p:txBody>
          <a:bodyPr wrap="square" rtlCol="0" anchor="ctr"/>
          <a:lstStyle/>
          <a:p>
            <a:pPr marL="0" indent="0">
              <a:buNone/>
            </a:pPr>
            <a:r>
              <a:rPr lang="en-US" sz="1100" b="1" dirty="0">
                <a:solidFill>
                  <a:srgbClr val="FEBD01"/>
                </a:solidFill>
                <a:latin typeface="Arial" pitchFamily="34" charset="0"/>
                <a:ea typeface="Arial" pitchFamily="34" charset="-122"/>
                <a:cs typeface="Arial" pitchFamily="34" charset="-120"/>
              </a:rPr>
              <a:t>auth.js Middleware — Request Flow</a:t>
            </a:r>
            <a:endParaRPr lang="en-US" sz="1100" dirty="0"/>
          </a:p>
        </p:txBody>
      </p:sp>
      <p:sp>
        <p:nvSpPr>
          <p:cNvPr id="18" name="Shape 16"/>
          <p:cNvSpPr/>
          <p:nvPr/>
        </p:nvSpPr>
        <p:spPr>
          <a:xfrm>
            <a:off x="4626864" y="1115568"/>
            <a:ext cx="329184" cy="329184"/>
          </a:xfrm>
          <a:prstGeom prst="rect">
            <a:avLst/>
          </a:prstGeom>
          <a:solidFill>
            <a:srgbClr val="FEBD01"/>
          </a:solidFill>
          <a:ln w="12700">
            <a:solidFill>
              <a:srgbClr val="FEBD01"/>
            </a:solidFill>
            <a:prstDash val="solid"/>
          </a:ln>
        </p:spPr>
      </p:sp>
      <p:sp>
        <p:nvSpPr>
          <p:cNvPr id="19" name="Text 17"/>
          <p:cNvSpPr/>
          <p:nvPr/>
        </p:nvSpPr>
        <p:spPr>
          <a:xfrm>
            <a:off x="4626864" y="1115568"/>
            <a:ext cx="329184" cy="329184"/>
          </a:xfrm>
          <a:prstGeom prst="rect">
            <a:avLst/>
          </a:prstGeom>
          <a:noFill/>
          <a:ln/>
        </p:spPr>
        <p:txBody>
          <a:bodyPr wrap="square" lIns="0" tIns="0" rIns="0" bIns="0" rtlCol="0" anchor="ctr"/>
          <a:lstStyle/>
          <a:p>
            <a:pPr marL="0" indent="0" algn="ctr">
              <a:buNone/>
            </a:pPr>
            <a:r>
              <a:rPr lang="en-US" sz="1100" b="1" dirty="0">
                <a:solidFill>
                  <a:srgbClr val="29282C"/>
                </a:solidFill>
                <a:latin typeface="Arial" pitchFamily="34" charset="0"/>
                <a:ea typeface="Arial" pitchFamily="34" charset="-122"/>
                <a:cs typeface="Arial" pitchFamily="34" charset="-120"/>
              </a:rPr>
              <a:t>1</a:t>
            </a:r>
            <a:endParaRPr lang="en-US" sz="1100" dirty="0"/>
          </a:p>
        </p:txBody>
      </p:sp>
      <p:sp>
        <p:nvSpPr>
          <p:cNvPr id="20" name="Text 18"/>
          <p:cNvSpPr/>
          <p:nvPr/>
        </p:nvSpPr>
        <p:spPr>
          <a:xfrm>
            <a:off x="5029200" y="1115568"/>
            <a:ext cx="3822192" cy="201168"/>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Request Arrives</a:t>
            </a:r>
            <a:endParaRPr lang="en-US" sz="1050" dirty="0"/>
          </a:p>
        </p:txBody>
      </p:sp>
      <p:sp>
        <p:nvSpPr>
          <p:cNvPr id="21" name="Text 19"/>
          <p:cNvSpPr/>
          <p:nvPr/>
        </p:nvSpPr>
        <p:spPr>
          <a:xfrm>
            <a:off x="5029200" y="1316736"/>
            <a:ext cx="3822192" cy="384048"/>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Any protected route (e.g. GET /api/journals) hits the middleware first before reaching the controller.</a:t>
            </a:r>
            <a:endParaRPr lang="en-US" sz="900" dirty="0"/>
          </a:p>
        </p:txBody>
      </p:sp>
      <p:sp>
        <p:nvSpPr>
          <p:cNvPr id="22" name="Shape 20"/>
          <p:cNvSpPr/>
          <p:nvPr/>
        </p:nvSpPr>
        <p:spPr>
          <a:xfrm>
            <a:off x="4626864" y="1810512"/>
            <a:ext cx="329184" cy="329184"/>
          </a:xfrm>
          <a:prstGeom prst="rect">
            <a:avLst/>
          </a:prstGeom>
          <a:solidFill>
            <a:srgbClr val="FEBD01"/>
          </a:solidFill>
          <a:ln w="12700">
            <a:solidFill>
              <a:srgbClr val="FEBD01"/>
            </a:solidFill>
            <a:prstDash val="solid"/>
          </a:ln>
        </p:spPr>
      </p:sp>
      <p:sp>
        <p:nvSpPr>
          <p:cNvPr id="23" name="Text 21"/>
          <p:cNvSpPr/>
          <p:nvPr/>
        </p:nvSpPr>
        <p:spPr>
          <a:xfrm>
            <a:off x="4626864" y="1810512"/>
            <a:ext cx="329184" cy="329184"/>
          </a:xfrm>
          <a:prstGeom prst="rect">
            <a:avLst/>
          </a:prstGeom>
          <a:noFill/>
          <a:ln/>
        </p:spPr>
        <p:txBody>
          <a:bodyPr wrap="square" lIns="0" tIns="0" rIns="0" bIns="0" rtlCol="0" anchor="ctr"/>
          <a:lstStyle/>
          <a:p>
            <a:pPr marL="0" indent="0" algn="ctr">
              <a:buNone/>
            </a:pPr>
            <a:r>
              <a:rPr lang="en-US" sz="1100" b="1" dirty="0">
                <a:solidFill>
                  <a:srgbClr val="29282C"/>
                </a:solidFill>
                <a:latin typeface="Arial" pitchFamily="34" charset="0"/>
                <a:ea typeface="Arial" pitchFamily="34" charset="-122"/>
                <a:cs typeface="Arial" pitchFamily="34" charset="-120"/>
              </a:rPr>
              <a:t>2</a:t>
            </a:r>
            <a:endParaRPr lang="en-US" sz="1100" dirty="0"/>
          </a:p>
        </p:txBody>
      </p:sp>
      <p:sp>
        <p:nvSpPr>
          <p:cNvPr id="24" name="Text 22"/>
          <p:cNvSpPr/>
          <p:nvPr/>
        </p:nvSpPr>
        <p:spPr>
          <a:xfrm>
            <a:off x="5029200" y="1810512"/>
            <a:ext cx="3822192" cy="201168"/>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Extract Bearer Token</a:t>
            </a:r>
            <a:endParaRPr lang="en-US" sz="1050" dirty="0"/>
          </a:p>
        </p:txBody>
      </p:sp>
      <p:sp>
        <p:nvSpPr>
          <p:cNvPr id="25" name="Text 23"/>
          <p:cNvSpPr/>
          <p:nvPr/>
        </p:nvSpPr>
        <p:spPr>
          <a:xfrm>
            <a:off x="5029200" y="2011680"/>
            <a:ext cx="3822192" cy="384048"/>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Middleware reads Authorization header and strips the 'Bearer ' prefix to isolate the JWT string.</a:t>
            </a:r>
            <a:endParaRPr lang="en-US" sz="900" dirty="0"/>
          </a:p>
        </p:txBody>
      </p:sp>
      <p:sp>
        <p:nvSpPr>
          <p:cNvPr id="26" name="Shape 24"/>
          <p:cNvSpPr/>
          <p:nvPr/>
        </p:nvSpPr>
        <p:spPr>
          <a:xfrm>
            <a:off x="4626864" y="2505456"/>
            <a:ext cx="329184" cy="329184"/>
          </a:xfrm>
          <a:prstGeom prst="rect">
            <a:avLst/>
          </a:prstGeom>
          <a:solidFill>
            <a:srgbClr val="FEBD01"/>
          </a:solidFill>
          <a:ln w="12700">
            <a:solidFill>
              <a:srgbClr val="FEBD01"/>
            </a:solidFill>
            <a:prstDash val="solid"/>
          </a:ln>
        </p:spPr>
      </p:sp>
      <p:sp>
        <p:nvSpPr>
          <p:cNvPr id="27" name="Text 25"/>
          <p:cNvSpPr/>
          <p:nvPr/>
        </p:nvSpPr>
        <p:spPr>
          <a:xfrm>
            <a:off x="4626864" y="2505456"/>
            <a:ext cx="329184" cy="329184"/>
          </a:xfrm>
          <a:prstGeom prst="rect">
            <a:avLst/>
          </a:prstGeom>
          <a:noFill/>
          <a:ln/>
        </p:spPr>
        <p:txBody>
          <a:bodyPr wrap="square" lIns="0" tIns="0" rIns="0" bIns="0" rtlCol="0" anchor="ctr"/>
          <a:lstStyle/>
          <a:p>
            <a:pPr marL="0" indent="0" algn="ctr">
              <a:buNone/>
            </a:pPr>
            <a:r>
              <a:rPr lang="en-US" sz="1100" b="1" dirty="0">
                <a:solidFill>
                  <a:srgbClr val="29282C"/>
                </a:solidFill>
                <a:latin typeface="Arial" pitchFamily="34" charset="0"/>
                <a:ea typeface="Arial" pitchFamily="34" charset="-122"/>
                <a:cs typeface="Arial" pitchFamily="34" charset="-120"/>
              </a:rPr>
              <a:t>3</a:t>
            </a:r>
            <a:endParaRPr lang="en-US" sz="1100" dirty="0"/>
          </a:p>
        </p:txBody>
      </p:sp>
      <p:sp>
        <p:nvSpPr>
          <p:cNvPr id="28" name="Text 26"/>
          <p:cNvSpPr/>
          <p:nvPr/>
        </p:nvSpPr>
        <p:spPr>
          <a:xfrm>
            <a:off x="5029200" y="2505456"/>
            <a:ext cx="3822192" cy="201168"/>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Cryptographic Verify</a:t>
            </a:r>
            <a:endParaRPr lang="en-US" sz="1050" dirty="0"/>
          </a:p>
        </p:txBody>
      </p:sp>
      <p:sp>
        <p:nvSpPr>
          <p:cNvPr id="29" name="Text 27"/>
          <p:cNvSpPr/>
          <p:nvPr/>
        </p:nvSpPr>
        <p:spPr>
          <a:xfrm>
            <a:off x="5029200" y="2706624"/>
            <a:ext cx="3822192" cy="384048"/>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jwt.verify() decrypts the token using the .env secret key. If tampered or expired → throws error instantly.</a:t>
            </a:r>
            <a:endParaRPr lang="en-US" sz="900" dirty="0"/>
          </a:p>
        </p:txBody>
      </p:sp>
      <p:sp>
        <p:nvSpPr>
          <p:cNvPr id="30" name="Shape 28"/>
          <p:cNvSpPr/>
          <p:nvPr/>
        </p:nvSpPr>
        <p:spPr>
          <a:xfrm>
            <a:off x="4626864" y="3200400"/>
            <a:ext cx="329184" cy="329184"/>
          </a:xfrm>
          <a:prstGeom prst="rect">
            <a:avLst/>
          </a:prstGeom>
          <a:solidFill>
            <a:srgbClr val="FEBD01"/>
          </a:solidFill>
          <a:ln w="12700">
            <a:solidFill>
              <a:srgbClr val="FEBD01"/>
            </a:solidFill>
            <a:prstDash val="solid"/>
          </a:ln>
        </p:spPr>
      </p:sp>
      <p:sp>
        <p:nvSpPr>
          <p:cNvPr id="31" name="Text 29"/>
          <p:cNvSpPr/>
          <p:nvPr/>
        </p:nvSpPr>
        <p:spPr>
          <a:xfrm>
            <a:off x="4626864" y="3200400"/>
            <a:ext cx="329184" cy="329184"/>
          </a:xfrm>
          <a:prstGeom prst="rect">
            <a:avLst/>
          </a:prstGeom>
          <a:noFill/>
          <a:ln/>
        </p:spPr>
        <p:txBody>
          <a:bodyPr wrap="square" lIns="0" tIns="0" rIns="0" bIns="0" rtlCol="0" anchor="ctr"/>
          <a:lstStyle/>
          <a:p>
            <a:pPr marL="0" indent="0" algn="ctr">
              <a:buNone/>
            </a:pPr>
            <a:r>
              <a:rPr lang="en-US" sz="1100" b="1" dirty="0">
                <a:solidFill>
                  <a:srgbClr val="29282C"/>
                </a:solidFill>
                <a:latin typeface="Arial" pitchFamily="34" charset="0"/>
                <a:ea typeface="Arial" pitchFamily="34" charset="-122"/>
                <a:cs typeface="Arial" pitchFamily="34" charset="-120"/>
              </a:rPr>
              <a:t>4</a:t>
            </a:r>
            <a:endParaRPr lang="en-US" sz="1100" dirty="0"/>
          </a:p>
        </p:txBody>
      </p:sp>
      <p:sp>
        <p:nvSpPr>
          <p:cNvPr id="32" name="Text 30"/>
          <p:cNvSpPr/>
          <p:nvPr/>
        </p:nvSpPr>
        <p:spPr>
          <a:xfrm>
            <a:off x="5029200" y="3200400"/>
            <a:ext cx="3822192" cy="201168"/>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Inject userId</a:t>
            </a:r>
            <a:endParaRPr lang="en-US" sz="1050" dirty="0"/>
          </a:p>
        </p:txBody>
      </p:sp>
      <p:sp>
        <p:nvSpPr>
          <p:cNvPr id="33" name="Text 31"/>
          <p:cNvSpPr/>
          <p:nvPr/>
        </p:nvSpPr>
        <p:spPr>
          <a:xfrm>
            <a:off x="5029200" y="3401568"/>
            <a:ext cx="3822192" cy="384048"/>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Valid token's payload is decoded and req.user = { userId } is injected, making it available to all downstream controllers.</a:t>
            </a:r>
            <a:endParaRPr lang="en-US" sz="900" dirty="0"/>
          </a:p>
        </p:txBody>
      </p:sp>
      <p:sp>
        <p:nvSpPr>
          <p:cNvPr id="34" name="Shape 32"/>
          <p:cNvSpPr/>
          <p:nvPr/>
        </p:nvSpPr>
        <p:spPr>
          <a:xfrm>
            <a:off x="4626864" y="3895344"/>
            <a:ext cx="329184" cy="329184"/>
          </a:xfrm>
          <a:prstGeom prst="rect">
            <a:avLst/>
          </a:prstGeom>
          <a:solidFill>
            <a:srgbClr val="FEBD01"/>
          </a:solidFill>
          <a:ln w="12700">
            <a:solidFill>
              <a:srgbClr val="FEBD01"/>
            </a:solidFill>
            <a:prstDash val="solid"/>
          </a:ln>
        </p:spPr>
      </p:sp>
      <p:sp>
        <p:nvSpPr>
          <p:cNvPr id="35" name="Text 33"/>
          <p:cNvSpPr/>
          <p:nvPr/>
        </p:nvSpPr>
        <p:spPr>
          <a:xfrm>
            <a:off x="4626864" y="3895344"/>
            <a:ext cx="329184" cy="329184"/>
          </a:xfrm>
          <a:prstGeom prst="rect">
            <a:avLst/>
          </a:prstGeom>
          <a:noFill/>
          <a:ln/>
        </p:spPr>
        <p:txBody>
          <a:bodyPr wrap="square" lIns="0" tIns="0" rIns="0" bIns="0" rtlCol="0" anchor="ctr"/>
          <a:lstStyle/>
          <a:p>
            <a:pPr marL="0" indent="0" algn="ctr">
              <a:buNone/>
            </a:pPr>
            <a:r>
              <a:rPr lang="en-US" sz="1100" b="1" dirty="0">
                <a:solidFill>
                  <a:srgbClr val="29282C"/>
                </a:solidFill>
                <a:latin typeface="Arial" pitchFamily="34" charset="0"/>
                <a:ea typeface="Arial" pitchFamily="34" charset="-122"/>
                <a:cs typeface="Arial" pitchFamily="34" charset="-120"/>
              </a:rPr>
              <a:t>5</a:t>
            </a:r>
            <a:endParaRPr lang="en-US" sz="1100" dirty="0"/>
          </a:p>
        </p:txBody>
      </p:sp>
      <p:sp>
        <p:nvSpPr>
          <p:cNvPr id="36" name="Text 34"/>
          <p:cNvSpPr/>
          <p:nvPr/>
        </p:nvSpPr>
        <p:spPr>
          <a:xfrm>
            <a:off x="5029200" y="3895344"/>
            <a:ext cx="3822192" cy="201168"/>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Route Proceeds / Blocked</a:t>
            </a:r>
            <a:endParaRPr lang="en-US" sz="1050" dirty="0"/>
          </a:p>
        </p:txBody>
      </p:sp>
      <p:sp>
        <p:nvSpPr>
          <p:cNvPr id="37" name="Text 35"/>
          <p:cNvSpPr/>
          <p:nvPr/>
        </p:nvSpPr>
        <p:spPr>
          <a:xfrm>
            <a:off x="5029200" y="4096512"/>
            <a:ext cx="3822192" cy="384048"/>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On success → request proceeds to the API handler. On failure → HTTP 403 Forbidden returned. Axios Interceptor on frontend catches it and redirects.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Analytics Engine &amp; Core Algorithms</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8732520" cy="1783080"/>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8" name="Shape 6"/>
          <p:cNvSpPr/>
          <p:nvPr/>
        </p:nvSpPr>
        <p:spPr>
          <a:xfrm>
            <a:off x="292608" y="822960"/>
            <a:ext cx="54864" cy="274320"/>
          </a:xfrm>
          <a:prstGeom prst="rect">
            <a:avLst/>
          </a:prstGeom>
          <a:solidFill>
            <a:srgbClr val="FEBD01"/>
          </a:solidFill>
          <a:ln w="12700">
            <a:solidFill>
              <a:srgbClr val="FEBD01"/>
            </a:solidFill>
            <a:prstDash val="solid"/>
          </a:ln>
        </p:spPr>
      </p:sp>
      <p:sp>
        <p:nvSpPr>
          <p:cNvPr id="9" name="Text 7"/>
          <p:cNvSpPr/>
          <p:nvPr/>
        </p:nvSpPr>
        <p:spPr>
          <a:xfrm>
            <a:off x="420624" y="822960"/>
            <a:ext cx="5486400" cy="27432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Dashboard Stats Aggregation — /api/journal/stats</a:t>
            </a:r>
            <a:endParaRPr lang="en-US" sz="1100" dirty="0"/>
          </a:p>
        </p:txBody>
      </p:sp>
      <p:sp>
        <p:nvSpPr>
          <p:cNvPr id="10" name="Text 8"/>
          <p:cNvSpPr/>
          <p:nvPr/>
        </p:nvSpPr>
        <p:spPr>
          <a:xfrm>
            <a:off x="347472" y="1115568"/>
            <a:ext cx="8412480" cy="256032"/>
          </a:xfrm>
          <a:prstGeom prst="rect">
            <a:avLst/>
          </a:prstGeom>
          <a:noFill/>
          <a:ln/>
        </p:spPr>
        <p:txBody>
          <a:bodyPr wrap="square" rtlCol="0" anchor="ctr"/>
          <a:lstStyle/>
          <a:p>
            <a:pPr marL="0" indent="0">
              <a:buNone/>
            </a:pPr>
            <a:r>
              <a:rPr lang="en-US" sz="1000" dirty="0">
                <a:solidFill>
                  <a:srgbClr val="29282C"/>
                </a:solidFill>
                <a:latin typeface="Arial" pitchFamily="34" charset="0"/>
                <a:ea typeface="Arial" pitchFamily="34" charset="-122"/>
                <a:cs typeface="Arial" pitchFamily="34" charset="-120"/>
              </a:rPr>
              <a:t>The Node.js backend computes all metrics on the server — the React frontend only receives the final JSON and renders it:</a:t>
            </a:r>
            <a:endParaRPr lang="en-US" sz="1000" dirty="0"/>
          </a:p>
        </p:txBody>
      </p:sp>
      <p:sp>
        <p:nvSpPr>
          <p:cNvPr id="11" name="Shape 9"/>
          <p:cNvSpPr/>
          <p:nvPr/>
        </p:nvSpPr>
        <p:spPr>
          <a:xfrm>
            <a:off x="292608" y="1408176"/>
            <a:ext cx="2798064" cy="987552"/>
          </a:xfrm>
          <a:prstGeom prst="rect">
            <a:avLst/>
          </a:prstGeom>
          <a:solidFill>
            <a:srgbClr val="193366"/>
          </a:solidFill>
          <a:ln w="10160">
            <a:solidFill>
              <a:srgbClr val="FEBD01"/>
            </a:solidFill>
            <a:prstDash val="solid"/>
          </a:ln>
        </p:spPr>
      </p:sp>
      <p:sp>
        <p:nvSpPr>
          <p:cNvPr id="12" name="Text 10"/>
          <p:cNvSpPr/>
          <p:nvPr/>
        </p:nvSpPr>
        <p:spPr>
          <a:xfrm>
            <a:off x="384048" y="1444752"/>
            <a:ext cx="2633472" cy="256032"/>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Total Word Count</a:t>
            </a:r>
            <a:endParaRPr lang="en-US" sz="1050" dirty="0"/>
          </a:p>
        </p:txBody>
      </p:sp>
      <p:sp>
        <p:nvSpPr>
          <p:cNvPr id="13" name="Text 11"/>
          <p:cNvSpPr/>
          <p:nvPr/>
        </p:nvSpPr>
        <p:spPr>
          <a:xfrm>
            <a:off x="384048" y="1719072"/>
            <a:ext cx="2633472" cy="621792"/>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Fetches all journal documents for the userId. Loops through each content string, splits by whitespace ('  '.split()), sums the array lengths. Single O(n) pass.</a:t>
            </a:r>
            <a:endParaRPr lang="en-US" sz="900" dirty="0"/>
          </a:p>
        </p:txBody>
      </p:sp>
      <p:sp>
        <p:nvSpPr>
          <p:cNvPr id="14" name="Shape 12"/>
          <p:cNvSpPr/>
          <p:nvPr/>
        </p:nvSpPr>
        <p:spPr>
          <a:xfrm>
            <a:off x="3236976" y="1408176"/>
            <a:ext cx="2798064" cy="987552"/>
          </a:xfrm>
          <a:prstGeom prst="rect">
            <a:avLst/>
          </a:prstGeom>
          <a:solidFill>
            <a:srgbClr val="193366"/>
          </a:solidFill>
          <a:ln w="10160">
            <a:solidFill>
              <a:srgbClr val="FEBD01"/>
            </a:solidFill>
            <a:prstDash val="solid"/>
          </a:ln>
        </p:spPr>
      </p:sp>
      <p:sp>
        <p:nvSpPr>
          <p:cNvPr id="15" name="Text 13"/>
          <p:cNvSpPr/>
          <p:nvPr/>
        </p:nvSpPr>
        <p:spPr>
          <a:xfrm>
            <a:off x="3328416" y="1444752"/>
            <a:ext cx="2633472" cy="256032"/>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Total Entries</a:t>
            </a:r>
            <a:endParaRPr lang="en-US" sz="1050" dirty="0"/>
          </a:p>
        </p:txBody>
      </p:sp>
      <p:sp>
        <p:nvSpPr>
          <p:cNvPr id="16" name="Text 14"/>
          <p:cNvSpPr/>
          <p:nvPr/>
        </p:nvSpPr>
        <p:spPr>
          <a:xfrm>
            <a:off x="3328416" y="1719072"/>
            <a:ext cx="2633472" cy="621792"/>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Simple MongoDB .countDocuments({ userId }) query — extremely fast with userId index on the journals collection.</a:t>
            </a:r>
            <a:endParaRPr lang="en-US" sz="900" dirty="0"/>
          </a:p>
        </p:txBody>
      </p:sp>
      <p:sp>
        <p:nvSpPr>
          <p:cNvPr id="17" name="Shape 15"/>
          <p:cNvSpPr/>
          <p:nvPr/>
        </p:nvSpPr>
        <p:spPr>
          <a:xfrm>
            <a:off x="6181344" y="1408176"/>
            <a:ext cx="2798064" cy="987552"/>
          </a:xfrm>
          <a:prstGeom prst="rect">
            <a:avLst/>
          </a:prstGeom>
          <a:solidFill>
            <a:srgbClr val="193366"/>
          </a:solidFill>
          <a:ln w="10160">
            <a:solidFill>
              <a:srgbClr val="FEBD01"/>
            </a:solidFill>
            <a:prstDash val="solid"/>
          </a:ln>
        </p:spPr>
      </p:sp>
      <p:sp>
        <p:nvSpPr>
          <p:cNvPr id="18" name="Text 16"/>
          <p:cNvSpPr/>
          <p:nvPr/>
        </p:nvSpPr>
        <p:spPr>
          <a:xfrm>
            <a:off x="6272784" y="1444752"/>
            <a:ext cx="2633472" cy="256032"/>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Mood Frequency Map</a:t>
            </a:r>
            <a:endParaRPr lang="en-US" sz="1050" dirty="0"/>
          </a:p>
        </p:txBody>
      </p:sp>
      <p:sp>
        <p:nvSpPr>
          <p:cNvPr id="19" name="Text 17"/>
          <p:cNvSpPr/>
          <p:nvPr/>
        </p:nvSpPr>
        <p:spPr>
          <a:xfrm>
            <a:off x="6272784" y="1719072"/>
            <a:ext cx="2633472" cy="621792"/>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Iterates over all mood arrays across all entries. Builds a JavaScript hashmap { Happy: 12, Anxious: 5, ... }. React maps this to proportional visual bars.</a:t>
            </a:r>
            <a:endParaRPr lang="en-US" sz="900" dirty="0"/>
          </a:p>
        </p:txBody>
      </p:sp>
      <p:sp>
        <p:nvSpPr>
          <p:cNvPr id="20" name="Shape 18"/>
          <p:cNvSpPr/>
          <p:nvPr/>
        </p:nvSpPr>
        <p:spPr>
          <a:xfrm>
            <a:off x="201168" y="2670048"/>
            <a:ext cx="4206240" cy="2066544"/>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21" name="Shape 19"/>
          <p:cNvSpPr/>
          <p:nvPr/>
        </p:nvSpPr>
        <p:spPr>
          <a:xfrm>
            <a:off x="292608" y="2724912"/>
            <a:ext cx="54864" cy="274320"/>
          </a:xfrm>
          <a:prstGeom prst="rect">
            <a:avLst/>
          </a:prstGeom>
          <a:solidFill>
            <a:srgbClr val="FEBD01"/>
          </a:solidFill>
          <a:ln w="12700">
            <a:solidFill>
              <a:srgbClr val="FEBD01"/>
            </a:solidFill>
            <a:prstDash val="solid"/>
          </a:ln>
        </p:spPr>
      </p:sp>
      <p:sp>
        <p:nvSpPr>
          <p:cNvPr id="22" name="Text 20"/>
          <p:cNvSpPr/>
          <p:nvPr/>
        </p:nvSpPr>
        <p:spPr>
          <a:xfrm>
            <a:off x="420624" y="2724912"/>
            <a:ext cx="3200400" cy="27432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Archive Matrix Algorithm</a:t>
            </a:r>
            <a:endParaRPr lang="en-US" sz="1100" dirty="0"/>
          </a:p>
        </p:txBody>
      </p:sp>
      <p:sp>
        <p:nvSpPr>
          <p:cNvPr id="23" name="Text 21"/>
          <p:cNvSpPr/>
          <p:nvPr/>
        </p:nvSpPr>
        <p:spPr>
          <a:xfrm>
            <a:off x="329184" y="3017520"/>
            <a:ext cx="3977640" cy="1609344"/>
          </a:xfrm>
          <a:prstGeom prst="rect">
            <a:avLst/>
          </a:prstGeom>
          <a:noFill/>
          <a:ln/>
        </p:spPr>
        <p:txBody>
          <a:bodyPr wrap="square" rtlCol="0" anchor="t"/>
          <a:lstStyle/>
          <a:p>
            <a:pPr marL="342900" indent="-342900">
              <a:buSzPct val="100000"/>
              <a:buChar char="•"/>
            </a:pPr>
            <a:r>
              <a:rPr lang="en-US" sz="950" dirty="0">
                <a:solidFill>
                  <a:srgbClr val="29282C"/>
                </a:solidFill>
              </a:rPr>
              <a:t>Fetch all journal entries for the current user (date fields only)</a:t>
            </a:r>
            <a:endParaRPr lang="en-US" sz="950" dirty="0"/>
          </a:p>
          <a:p>
            <a:pPr marL="342900" indent="-342900">
              <a:buSzPct val="100000"/>
              <a:buChar char="•"/>
            </a:pPr>
            <a:r>
              <a:rPr lang="en-US" sz="950" dirty="0">
                <a:solidFill>
                  <a:srgbClr val="29282C"/>
                </a:solidFill>
              </a:rPr>
              <a:t>Parse each ISO timestamp → extract unique Year values</a:t>
            </a:r>
            <a:endParaRPr lang="en-US" sz="950" dirty="0"/>
          </a:p>
          <a:p>
            <a:pPr marL="342900" indent="-342900">
              <a:buSzPct val="100000"/>
              <a:buChar char="•"/>
            </a:pPr>
            <a:r>
              <a:rPr lang="en-US" sz="950" dirty="0">
                <a:solidFill>
                  <a:srgbClr val="29282C"/>
                </a:solidFill>
              </a:rPr>
              <a:t>For each year, generate a 12-month grid (Jan–Dec)</a:t>
            </a:r>
            <a:endParaRPr lang="en-US" sz="950" dirty="0"/>
          </a:p>
          <a:p>
            <a:pPr marL="342900" indent="-342900">
              <a:buSzPct val="100000"/>
              <a:buChar char="•"/>
            </a:pPr>
            <a:r>
              <a:rPr lang="en-US" sz="950" dirty="0">
                <a:solidFill>
                  <a:srgbClr val="29282C"/>
                </a:solidFill>
              </a:rPr>
              <a:t>Check if any entry exists in that year+month combination</a:t>
            </a:r>
            <a:endParaRPr lang="en-US" sz="950" dirty="0"/>
          </a:p>
          <a:p>
            <a:pPr marL="342900" indent="-342900">
              <a:buSzPct val="100000"/>
              <a:buChar char="•"/>
            </a:pPr>
            <a:r>
              <a:rPr lang="en-US" sz="950" dirty="0">
                <a:solidFill>
                  <a:srgbClr val="29282C"/>
                </a:solidFill>
              </a:rPr>
              <a:t>Opaque + clickable if data exists; faded out if empty</a:t>
            </a:r>
            <a:endParaRPr lang="en-US" sz="950" dirty="0"/>
          </a:p>
          <a:p>
            <a:pPr marL="342900" indent="-342900">
              <a:buSzPct val="100000"/>
              <a:buChar char="•"/>
            </a:pPr>
            <a:r>
              <a:rPr lang="en-US" sz="950" dirty="0">
                <a:solidFill>
                  <a:srgbClr val="29282C"/>
                </a:solidFill>
              </a:rPr>
              <a:t>Clicking a month filters and renders only that month's entries</a:t>
            </a:r>
            <a:endParaRPr lang="en-US" sz="950" dirty="0"/>
          </a:p>
        </p:txBody>
      </p:sp>
      <p:sp>
        <p:nvSpPr>
          <p:cNvPr id="24" name="Shape 22"/>
          <p:cNvSpPr/>
          <p:nvPr/>
        </p:nvSpPr>
        <p:spPr>
          <a:xfrm>
            <a:off x="4617720" y="2670048"/>
            <a:ext cx="4315968" cy="2066544"/>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25" name="Shape 23"/>
          <p:cNvSpPr/>
          <p:nvPr/>
        </p:nvSpPr>
        <p:spPr>
          <a:xfrm>
            <a:off x="4709160" y="2724912"/>
            <a:ext cx="54864" cy="274320"/>
          </a:xfrm>
          <a:prstGeom prst="rect">
            <a:avLst/>
          </a:prstGeom>
          <a:solidFill>
            <a:srgbClr val="FEBD01"/>
          </a:solidFill>
          <a:ln w="12700">
            <a:solidFill>
              <a:srgbClr val="FEBD01"/>
            </a:solidFill>
            <a:prstDash val="solid"/>
          </a:ln>
        </p:spPr>
      </p:sp>
      <p:sp>
        <p:nvSpPr>
          <p:cNvPr id="26" name="Text 24"/>
          <p:cNvSpPr/>
          <p:nvPr/>
        </p:nvSpPr>
        <p:spPr>
          <a:xfrm>
            <a:off x="4837176" y="2724912"/>
            <a:ext cx="3931920" cy="27432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Global Axios Interceptor (Frontend)</a:t>
            </a:r>
            <a:endParaRPr lang="en-US" sz="1100" dirty="0"/>
          </a:p>
        </p:txBody>
      </p:sp>
      <p:sp>
        <p:nvSpPr>
          <p:cNvPr id="27" name="Text 25"/>
          <p:cNvSpPr/>
          <p:nvPr/>
        </p:nvSpPr>
        <p:spPr>
          <a:xfrm>
            <a:off x="4754880" y="3017520"/>
            <a:ext cx="4069080" cy="1609344"/>
          </a:xfrm>
          <a:prstGeom prst="rect">
            <a:avLst/>
          </a:prstGeom>
          <a:noFill/>
          <a:ln/>
        </p:spPr>
        <p:txBody>
          <a:bodyPr wrap="square" rtlCol="0" anchor="t"/>
          <a:lstStyle/>
          <a:p>
            <a:pPr marL="0" indent="0">
              <a:buNone/>
            </a:pPr>
            <a:r>
              <a:rPr lang="en-US" sz="950" dirty="0">
                <a:solidFill>
                  <a:srgbClr val="29282C"/>
                </a:solidFill>
                <a:latin typeface="Arial" pitchFamily="34" charset="0"/>
                <a:ea typeface="Arial" pitchFamily="34" charset="-122"/>
                <a:cs typeface="Arial" pitchFamily="34" charset="-120"/>
              </a:rPr>
              <a:t>Problem: When JWT expired, users were silently stranded on the Dashboard with broken API calls.</a:t>
            </a:r>
            <a:endParaRPr lang="en-US" sz="950" dirty="0"/>
          </a:p>
          <a:p>
            <a:pPr marL="0" indent="0">
              <a:buNone/>
            </a:pPr>
            <a:endParaRPr lang="en-US" sz="950" dirty="0"/>
          </a:p>
          <a:p>
            <a:pPr marL="0" indent="0">
              <a:buNone/>
            </a:pPr>
            <a:r>
              <a:rPr lang="en-US" sz="950" dirty="0">
                <a:solidFill>
                  <a:srgbClr val="29282C"/>
                </a:solidFill>
                <a:latin typeface="Arial" pitchFamily="34" charset="0"/>
                <a:ea typeface="Arial" pitchFamily="34" charset="-122"/>
                <a:cs typeface="Arial" pitchFamily="34" charset="-120"/>
              </a:rPr>
              <a:t>Solution: A global Axios Interceptor on the React frontend actively listens for HTTP 401 and 403 responses on every API call. On detection, it clears localStorage, removes the auth token, and programmatically redirects the user back to the login portal — gracefully, without error messages.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UI / UX Philosophy &amp; Design Decisions</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4206240" cy="3986784"/>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8" name="Shape 6"/>
          <p:cNvSpPr/>
          <p:nvPr/>
        </p:nvSpPr>
        <p:spPr>
          <a:xfrm>
            <a:off x="292608" y="804672"/>
            <a:ext cx="54864" cy="274320"/>
          </a:xfrm>
          <a:prstGeom prst="rect">
            <a:avLst/>
          </a:prstGeom>
          <a:solidFill>
            <a:srgbClr val="FEBD01"/>
          </a:solidFill>
          <a:ln w="12700">
            <a:solidFill>
              <a:srgbClr val="FEBD01"/>
            </a:solidFill>
            <a:prstDash val="solid"/>
          </a:ln>
        </p:spPr>
      </p:sp>
      <p:sp>
        <p:nvSpPr>
          <p:cNvPr id="9" name="Text 7"/>
          <p:cNvSpPr/>
          <p:nvPr/>
        </p:nvSpPr>
        <p:spPr>
          <a:xfrm>
            <a:off x="420624" y="804672"/>
            <a:ext cx="3200400" cy="27432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Design Principles</a:t>
            </a:r>
            <a:endParaRPr lang="en-US" sz="1100" dirty="0"/>
          </a:p>
        </p:txBody>
      </p:sp>
      <p:sp>
        <p:nvSpPr>
          <p:cNvPr id="10" name="Shape 8"/>
          <p:cNvSpPr/>
          <p:nvPr/>
        </p:nvSpPr>
        <p:spPr>
          <a:xfrm>
            <a:off x="274320" y="1097280"/>
            <a:ext cx="4059936" cy="676656"/>
          </a:xfrm>
          <a:prstGeom prst="rect">
            <a:avLst/>
          </a:prstGeom>
          <a:solidFill>
            <a:srgbClr val="F5F6FA"/>
          </a:solidFill>
          <a:ln w="6350">
            <a:solidFill>
              <a:srgbClr val="D0D5DD"/>
            </a:solidFill>
            <a:prstDash val="solid"/>
          </a:ln>
        </p:spPr>
      </p:sp>
      <p:sp>
        <p:nvSpPr>
          <p:cNvPr id="11" name="Shape 9"/>
          <p:cNvSpPr/>
          <p:nvPr/>
        </p:nvSpPr>
        <p:spPr>
          <a:xfrm>
            <a:off x="274320" y="1097280"/>
            <a:ext cx="54864" cy="676656"/>
          </a:xfrm>
          <a:prstGeom prst="rect">
            <a:avLst/>
          </a:prstGeom>
          <a:solidFill>
            <a:srgbClr val="FEBD01"/>
          </a:solidFill>
          <a:ln w="12700">
            <a:solidFill>
              <a:srgbClr val="FEBD01"/>
            </a:solidFill>
            <a:prstDash val="solid"/>
          </a:ln>
        </p:spPr>
      </p:sp>
      <p:sp>
        <p:nvSpPr>
          <p:cNvPr id="12" name="Text 10"/>
          <p:cNvSpPr/>
          <p:nvPr/>
        </p:nvSpPr>
        <p:spPr>
          <a:xfrm>
            <a:off x="402336" y="1152144"/>
            <a:ext cx="3749040"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Zen-like Minimalism</a:t>
            </a:r>
            <a:endParaRPr lang="en-US" sz="1000" dirty="0"/>
          </a:p>
        </p:txBody>
      </p:sp>
      <p:sp>
        <p:nvSpPr>
          <p:cNvPr id="13" name="Text 11"/>
          <p:cNvSpPr/>
          <p:nvPr/>
        </p:nvSpPr>
        <p:spPr>
          <a:xfrm>
            <a:off x="402336" y="1353312"/>
            <a:ext cx="3749040" cy="365760"/>
          </a:xfrm>
          <a:prstGeom prst="rect">
            <a:avLst/>
          </a:prstGeom>
          <a:noFill/>
          <a:ln/>
        </p:spPr>
        <p:txBody>
          <a:bodyPr wrap="square" rtlCol="0" anchor="ctr"/>
          <a:lstStyle/>
          <a:p>
            <a:pPr marL="0" indent="0">
              <a:buNone/>
            </a:pPr>
            <a:r>
              <a:rPr lang="en-US" sz="900" dirty="0">
                <a:solidFill>
                  <a:srgbClr val="444444"/>
                </a:solidFill>
                <a:latin typeface="Arial" pitchFamily="34" charset="0"/>
                <a:ea typeface="Arial" pitchFamily="34" charset="-122"/>
                <a:cs typeface="Arial" pitchFamily="34" charset="-120"/>
              </a:rPr>
              <a:t>Clutter-free viewports. Editing opens inside floating CSS Modals — no page navigation required. Users stay in context at all times.</a:t>
            </a:r>
            <a:endParaRPr lang="en-US" sz="900" dirty="0"/>
          </a:p>
        </p:txBody>
      </p:sp>
      <p:sp>
        <p:nvSpPr>
          <p:cNvPr id="14" name="Shape 12"/>
          <p:cNvSpPr/>
          <p:nvPr/>
        </p:nvSpPr>
        <p:spPr>
          <a:xfrm>
            <a:off x="274320" y="1847088"/>
            <a:ext cx="4059936" cy="676656"/>
          </a:xfrm>
          <a:prstGeom prst="rect">
            <a:avLst/>
          </a:prstGeom>
          <a:solidFill>
            <a:srgbClr val="F5F6FA"/>
          </a:solidFill>
          <a:ln w="6350">
            <a:solidFill>
              <a:srgbClr val="D0D5DD"/>
            </a:solidFill>
            <a:prstDash val="solid"/>
          </a:ln>
        </p:spPr>
      </p:sp>
      <p:sp>
        <p:nvSpPr>
          <p:cNvPr id="15" name="Shape 13"/>
          <p:cNvSpPr/>
          <p:nvPr/>
        </p:nvSpPr>
        <p:spPr>
          <a:xfrm>
            <a:off x="274320" y="1847088"/>
            <a:ext cx="54864" cy="676656"/>
          </a:xfrm>
          <a:prstGeom prst="rect">
            <a:avLst/>
          </a:prstGeom>
          <a:solidFill>
            <a:srgbClr val="FEBD01"/>
          </a:solidFill>
          <a:ln w="12700">
            <a:solidFill>
              <a:srgbClr val="FEBD01"/>
            </a:solidFill>
            <a:prstDash val="solid"/>
          </a:ln>
        </p:spPr>
      </p:sp>
      <p:sp>
        <p:nvSpPr>
          <p:cNvPr id="16" name="Text 14"/>
          <p:cNvSpPr/>
          <p:nvPr/>
        </p:nvSpPr>
        <p:spPr>
          <a:xfrm>
            <a:off x="402336" y="1901952"/>
            <a:ext cx="3749040"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Dynamic Mood Pills</a:t>
            </a:r>
            <a:endParaRPr lang="en-US" sz="1000" dirty="0"/>
          </a:p>
        </p:txBody>
      </p:sp>
      <p:sp>
        <p:nvSpPr>
          <p:cNvPr id="17" name="Text 15"/>
          <p:cNvSpPr/>
          <p:nvPr/>
        </p:nvSpPr>
        <p:spPr>
          <a:xfrm>
            <a:off x="402336" y="2103120"/>
            <a:ext cx="3749040" cy="365760"/>
          </a:xfrm>
          <a:prstGeom prst="rect">
            <a:avLst/>
          </a:prstGeom>
          <a:noFill/>
          <a:ln/>
        </p:spPr>
        <p:txBody>
          <a:bodyPr wrap="square" rtlCol="0" anchor="ctr"/>
          <a:lstStyle/>
          <a:p>
            <a:pPr marL="0" indent="0">
              <a:buNone/>
            </a:pPr>
            <a:r>
              <a:rPr lang="en-US" sz="900" dirty="0">
                <a:solidFill>
                  <a:srgbClr val="444444"/>
                </a:solidFill>
                <a:latin typeface="Arial" pitchFamily="34" charset="0"/>
                <a:ea typeface="Arial" pitchFamily="34" charset="-122"/>
                <a:cs typeface="Arial" pitchFamily="34" charset="-120"/>
              </a:rPr>
              <a:t>Instead of a boring HTML &lt;select&gt; dropdown, 15+ mood options render as clickable pill buttons. Each click toggles that mood in a React array state — true multi-select with no library needed.</a:t>
            </a:r>
            <a:endParaRPr lang="en-US" sz="900" dirty="0"/>
          </a:p>
        </p:txBody>
      </p:sp>
      <p:sp>
        <p:nvSpPr>
          <p:cNvPr id="18" name="Shape 16"/>
          <p:cNvSpPr/>
          <p:nvPr/>
        </p:nvSpPr>
        <p:spPr>
          <a:xfrm>
            <a:off x="274320" y="2596896"/>
            <a:ext cx="4059936" cy="676656"/>
          </a:xfrm>
          <a:prstGeom prst="rect">
            <a:avLst/>
          </a:prstGeom>
          <a:solidFill>
            <a:srgbClr val="F5F6FA"/>
          </a:solidFill>
          <a:ln w="6350">
            <a:solidFill>
              <a:srgbClr val="D0D5DD"/>
            </a:solidFill>
            <a:prstDash val="solid"/>
          </a:ln>
        </p:spPr>
      </p:sp>
      <p:sp>
        <p:nvSpPr>
          <p:cNvPr id="19" name="Shape 17"/>
          <p:cNvSpPr/>
          <p:nvPr/>
        </p:nvSpPr>
        <p:spPr>
          <a:xfrm>
            <a:off x="274320" y="2596896"/>
            <a:ext cx="54864" cy="676656"/>
          </a:xfrm>
          <a:prstGeom prst="rect">
            <a:avLst/>
          </a:prstGeom>
          <a:solidFill>
            <a:srgbClr val="FEBD01"/>
          </a:solidFill>
          <a:ln w="12700">
            <a:solidFill>
              <a:srgbClr val="FEBD01"/>
            </a:solidFill>
            <a:prstDash val="solid"/>
          </a:ln>
        </p:spPr>
      </p:sp>
      <p:sp>
        <p:nvSpPr>
          <p:cNvPr id="20" name="Text 18"/>
          <p:cNvSpPr/>
          <p:nvPr/>
        </p:nvSpPr>
        <p:spPr>
          <a:xfrm>
            <a:off x="402336" y="2651760"/>
            <a:ext cx="3749040"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Day Score Slider</a:t>
            </a:r>
            <a:endParaRPr lang="en-US" sz="1000" dirty="0"/>
          </a:p>
        </p:txBody>
      </p:sp>
      <p:sp>
        <p:nvSpPr>
          <p:cNvPr id="21" name="Text 19"/>
          <p:cNvSpPr/>
          <p:nvPr/>
        </p:nvSpPr>
        <p:spPr>
          <a:xfrm>
            <a:off x="402336" y="2852928"/>
            <a:ext cx="3749040" cy="365760"/>
          </a:xfrm>
          <a:prstGeom prst="rect">
            <a:avLst/>
          </a:prstGeom>
          <a:noFill/>
          <a:ln/>
        </p:spPr>
        <p:txBody>
          <a:bodyPr wrap="square" rtlCol="0" anchor="ctr"/>
          <a:lstStyle/>
          <a:p>
            <a:pPr marL="0" indent="0">
              <a:buNone/>
            </a:pPr>
            <a:r>
              <a:rPr lang="en-US" sz="900" dirty="0">
                <a:solidFill>
                  <a:srgbClr val="444444"/>
                </a:solidFill>
                <a:latin typeface="Arial" pitchFamily="34" charset="0"/>
                <a:ea typeface="Arial" pitchFamily="34" charset="-122"/>
                <a:cs typeface="Arial" pitchFamily="34" charset="-120"/>
              </a:rPr>
              <a:t>A numeric HTML range input (1–10) gives users a fast, tangible way to rate their day. The value flows directly into the journal payload as a Number field with boundary constraints.</a:t>
            </a:r>
            <a:endParaRPr lang="en-US" sz="900" dirty="0"/>
          </a:p>
        </p:txBody>
      </p:sp>
      <p:sp>
        <p:nvSpPr>
          <p:cNvPr id="22" name="Shape 20"/>
          <p:cNvSpPr/>
          <p:nvPr/>
        </p:nvSpPr>
        <p:spPr>
          <a:xfrm>
            <a:off x="274320" y="3346704"/>
            <a:ext cx="4059936" cy="676656"/>
          </a:xfrm>
          <a:prstGeom prst="rect">
            <a:avLst/>
          </a:prstGeom>
          <a:solidFill>
            <a:srgbClr val="F5F6FA"/>
          </a:solidFill>
          <a:ln w="6350">
            <a:solidFill>
              <a:srgbClr val="D0D5DD"/>
            </a:solidFill>
            <a:prstDash val="solid"/>
          </a:ln>
        </p:spPr>
      </p:sp>
      <p:sp>
        <p:nvSpPr>
          <p:cNvPr id="23" name="Shape 21"/>
          <p:cNvSpPr/>
          <p:nvPr/>
        </p:nvSpPr>
        <p:spPr>
          <a:xfrm>
            <a:off x="274320" y="3346704"/>
            <a:ext cx="54864" cy="676656"/>
          </a:xfrm>
          <a:prstGeom prst="rect">
            <a:avLst/>
          </a:prstGeom>
          <a:solidFill>
            <a:srgbClr val="FEBD01"/>
          </a:solidFill>
          <a:ln w="12700">
            <a:solidFill>
              <a:srgbClr val="FEBD01"/>
            </a:solidFill>
            <a:prstDash val="solid"/>
          </a:ln>
        </p:spPr>
      </p:sp>
      <p:sp>
        <p:nvSpPr>
          <p:cNvPr id="24" name="Text 22"/>
          <p:cNvSpPr/>
          <p:nvPr/>
        </p:nvSpPr>
        <p:spPr>
          <a:xfrm>
            <a:off x="402336" y="3401568"/>
            <a:ext cx="3749040"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Gender-Based Theming</a:t>
            </a:r>
            <a:endParaRPr lang="en-US" sz="1000" dirty="0"/>
          </a:p>
        </p:txBody>
      </p:sp>
      <p:sp>
        <p:nvSpPr>
          <p:cNvPr id="25" name="Text 23"/>
          <p:cNvSpPr/>
          <p:nvPr/>
        </p:nvSpPr>
        <p:spPr>
          <a:xfrm>
            <a:off x="402336" y="3602736"/>
            <a:ext cx="3749040" cy="365760"/>
          </a:xfrm>
          <a:prstGeom prst="rect">
            <a:avLst/>
          </a:prstGeom>
          <a:noFill/>
          <a:ln/>
        </p:spPr>
        <p:txBody>
          <a:bodyPr wrap="square" rtlCol="0" anchor="ctr"/>
          <a:lstStyle/>
          <a:p>
            <a:pPr marL="0" indent="0">
              <a:buNone/>
            </a:pPr>
            <a:r>
              <a:rPr lang="en-US" sz="900" dirty="0">
                <a:solidFill>
                  <a:srgbClr val="444444"/>
                </a:solidFill>
                <a:latin typeface="Arial" pitchFamily="34" charset="0"/>
                <a:ea typeface="Arial" pitchFamily="34" charset="-122"/>
                <a:cs typeface="Arial" pitchFamily="34" charset="-120"/>
              </a:rPr>
              <a:t>On registration, users set gender. The backend stores it as an enum. The React frontend reads it on login and sets CSS :root variables to switch between two distinct color gradients across the whole app — no page refresh.</a:t>
            </a:r>
            <a:endParaRPr lang="en-US" sz="900" dirty="0"/>
          </a:p>
        </p:txBody>
      </p:sp>
      <p:sp>
        <p:nvSpPr>
          <p:cNvPr id="26" name="Shape 24"/>
          <p:cNvSpPr/>
          <p:nvPr/>
        </p:nvSpPr>
        <p:spPr>
          <a:xfrm>
            <a:off x="274320" y="4096512"/>
            <a:ext cx="4059936" cy="676656"/>
          </a:xfrm>
          <a:prstGeom prst="rect">
            <a:avLst/>
          </a:prstGeom>
          <a:solidFill>
            <a:srgbClr val="F5F6FA"/>
          </a:solidFill>
          <a:ln w="6350">
            <a:solidFill>
              <a:srgbClr val="D0D5DD"/>
            </a:solidFill>
            <a:prstDash val="solid"/>
          </a:ln>
        </p:spPr>
      </p:sp>
      <p:sp>
        <p:nvSpPr>
          <p:cNvPr id="27" name="Shape 25"/>
          <p:cNvSpPr/>
          <p:nvPr/>
        </p:nvSpPr>
        <p:spPr>
          <a:xfrm>
            <a:off x="274320" y="4096512"/>
            <a:ext cx="54864" cy="676656"/>
          </a:xfrm>
          <a:prstGeom prst="rect">
            <a:avLst/>
          </a:prstGeom>
          <a:solidFill>
            <a:srgbClr val="FEBD01"/>
          </a:solidFill>
          <a:ln w="12700">
            <a:solidFill>
              <a:srgbClr val="FEBD01"/>
            </a:solidFill>
            <a:prstDash val="solid"/>
          </a:ln>
        </p:spPr>
      </p:sp>
      <p:sp>
        <p:nvSpPr>
          <p:cNvPr id="28" name="Text 26"/>
          <p:cNvSpPr/>
          <p:nvPr/>
        </p:nvSpPr>
        <p:spPr>
          <a:xfrm>
            <a:off x="402336" y="4151376"/>
            <a:ext cx="3749040"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SPA Navigation Feel</a:t>
            </a:r>
            <a:endParaRPr lang="en-US" sz="1000" dirty="0"/>
          </a:p>
        </p:txBody>
      </p:sp>
      <p:sp>
        <p:nvSpPr>
          <p:cNvPr id="29" name="Text 27"/>
          <p:cNvSpPr/>
          <p:nvPr/>
        </p:nvSpPr>
        <p:spPr>
          <a:xfrm>
            <a:off x="402336" y="4352544"/>
            <a:ext cx="3749040" cy="365760"/>
          </a:xfrm>
          <a:prstGeom prst="rect">
            <a:avLst/>
          </a:prstGeom>
          <a:noFill/>
          <a:ln/>
        </p:spPr>
        <p:txBody>
          <a:bodyPr wrap="square" rtlCol="0" anchor="ctr"/>
          <a:lstStyle/>
          <a:p>
            <a:pPr marL="0" indent="0">
              <a:buNone/>
            </a:pPr>
            <a:r>
              <a:rPr lang="en-US" sz="900" dirty="0">
                <a:solidFill>
                  <a:srgbClr val="444444"/>
                </a:solidFill>
                <a:latin typeface="Arial" pitchFamily="34" charset="0"/>
                <a:ea typeface="Arial" pitchFamily="34" charset="-122"/>
                <a:cs typeface="Arial" pitchFamily="34" charset="-120"/>
              </a:rPr>
              <a:t>React Router handles all navigation client-side. Dashboard → Editor → Archive — all transitions are instant component swaps via Virtual DOM. Zero HTTP page reloads.</a:t>
            </a:r>
            <a:endParaRPr lang="en-US" sz="900" dirty="0"/>
          </a:p>
        </p:txBody>
      </p:sp>
      <p:sp>
        <p:nvSpPr>
          <p:cNvPr id="30" name="Shape 28"/>
          <p:cNvSpPr/>
          <p:nvPr/>
        </p:nvSpPr>
        <p:spPr>
          <a:xfrm>
            <a:off x="4617720" y="749808"/>
            <a:ext cx="4315968" cy="2103120"/>
          </a:xfrm>
          <a:prstGeom prst="rect">
            <a:avLst/>
          </a:prstGeom>
          <a:solidFill>
            <a:srgbClr val="F0F0F0"/>
          </a:solidFill>
          <a:ln w="10160">
            <a:solidFill>
              <a:srgbClr val="8892A4"/>
            </a:solidFill>
            <a:prstDash val="solid"/>
          </a:ln>
        </p:spPr>
      </p:sp>
      <p:sp>
        <p:nvSpPr>
          <p:cNvPr id="31" name="Text 29"/>
          <p:cNvSpPr/>
          <p:nvPr/>
        </p:nvSpPr>
        <p:spPr>
          <a:xfrm>
            <a:off x="4617720" y="749808"/>
            <a:ext cx="4315968" cy="365760"/>
          </a:xfrm>
          <a:prstGeom prst="rect">
            <a:avLst/>
          </a:prstGeom>
          <a:noFill/>
          <a:ln/>
        </p:spPr>
        <p:txBody>
          <a:bodyPr wrap="square" rtlCol="0" anchor="ctr"/>
          <a:lstStyle/>
          <a:p>
            <a:pPr marL="0" indent="0" algn="ctr">
              <a:buNone/>
            </a:pPr>
            <a:r>
              <a:rPr lang="en-US" sz="1100" b="1" dirty="0">
                <a:solidFill>
                  <a:srgbClr val="8892A4"/>
                </a:solidFill>
                <a:latin typeface="Arial" pitchFamily="34" charset="0"/>
                <a:ea typeface="Arial" pitchFamily="34" charset="-122"/>
                <a:cs typeface="Arial" pitchFamily="34" charset="-120"/>
              </a:rPr>
              <a:t>[Screenshot Placeholder]</a:t>
            </a:r>
            <a:endParaRPr lang="en-US" sz="1100" dirty="0"/>
          </a:p>
        </p:txBody>
      </p:sp>
      <p:sp>
        <p:nvSpPr>
          <p:cNvPr id="32" name="Text 30"/>
          <p:cNvSpPr/>
          <p:nvPr/>
        </p:nvSpPr>
        <p:spPr>
          <a:xfrm>
            <a:off x="4754880" y="1188720"/>
            <a:ext cx="4023360" cy="457200"/>
          </a:xfrm>
          <a:prstGeom prst="rect">
            <a:avLst/>
          </a:prstGeom>
          <a:noFill/>
          <a:ln/>
        </p:spPr>
        <p:txBody>
          <a:bodyPr wrap="square" rtlCol="0" anchor="ctr"/>
          <a:lstStyle/>
          <a:p>
            <a:pPr marL="0" indent="0" algn="ctr">
              <a:buNone/>
            </a:pPr>
            <a:r>
              <a:rPr lang="en-US" sz="1000" i="1" dirty="0">
                <a:solidFill>
                  <a:srgbClr val="8892A4"/>
                </a:solidFill>
                <a:latin typeface="Arial" pitchFamily="34" charset="0"/>
                <a:ea typeface="Arial" pitchFamily="34" charset="-122"/>
                <a:cs typeface="Arial" pitchFamily="34" charset="-120"/>
              </a:rPr>
              <a:t>Add a screenshot of the Dashboard UI or Mood Pills interface here</a:t>
            </a:r>
            <a:endParaRPr lang="en-US" sz="1000" dirty="0"/>
          </a:p>
        </p:txBody>
      </p:sp>
      <p:sp>
        <p:nvSpPr>
          <p:cNvPr id="33" name="Text 31"/>
          <p:cNvSpPr/>
          <p:nvPr/>
        </p:nvSpPr>
        <p:spPr>
          <a:xfrm>
            <a:off x="4754880" y="1719072"/>
            <a:ext cx="4023360" cy="365760"/>
          </a:xfrm>
          <a:prstGeom prst="rect">
            <a:avLst/>
          </a:prstGeom>
          <a:noFill/>
          <a:ln/>
        </p:spPr>
        <p:txBody>
          <a:bodyPr wrap="square" rtlCol="0" anchor="ctr"/>
          <a:lstStyle/>
          <a:p>
            <a:pPr marL="0" indent="0" algn="ctr">
              <a:buNone/>
            </a:pPr>
            <a:r>
              <a:rPr lang="en-US" sz="950" i="1" dirty="0">
                <a:solidFill>
                  <a:srgbClr val="8892A4"/>
                </a:solidFill>
                <a:latin typeface="Arial" pitchFamily="34" charset="0"/>
                <a:ea typeface="Arial" pitchFamily="34" charset="-122"/>
                <a:cs typeface="Arial" pitchFamily="34" charset="-120"/>
              </a:rPr>
              <a:t>Suggested: Show the mood pill buttons selected + day score slider</a:t>
            </a:r>
            <a:endParaRPr lang="en-US" sz="950" dirty="0"/>
          </a:p>
        </p:txBody>
      </p:sp>
      <p:sp>
        <p:nvSpPr>
          <p:cNvPr id="34" name="Shape 32"/>
          <p:cNvSpPr/>
          <p:nvPr/>
        </p:nvSpPr>
        <p:spPr>
          <a:xfrm>
            <a:off x="4617720" y="2980944"/>
            <a:ext cx="4315968" cy="1755648"/>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35" name="Shape 33"/>
          <p:cNvSpPr/>
          <p:nvPr/>
        </p:nvSpPr>
        <p:spPr>
          <a:xfrm>
            <a:off x="4709160" y="3035808"/>
            <a:ext cx="54864" cy="274320"/>
          </a:xfrm>
          <a:prstGeom prst="rect">
            <a:avLst/>
          </a:prstGeom>
          <a:solidFill>
            <a:srgbClr val="FEBD01"/>
          </a:solidFill>
          <a:ln w="12700">
            <a:solidFill>
              <a:srgbClr val="FEBD01"/>
            </a:solidFill>
            <a:prstDash val="solid"/>
          </a:ln>
        </p:spPr>
      </p:sp>
      <p:sp>
        <p:nvSpPr>
          <p:cNvPr id="36" name="Text 34"/>
          <p:cNvSpPr/>
          <p:nvPr/>
        </p:nvSpPr>
        <p:spPr>
          <a:xfrm>
            <a:off x="4837176" y="3035808"/>
            <a:ext cx="3840480" cy="27432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React State Management</a:t>
            </a:r>
            <a:endParaRPr lang="en-US" sz="1100" dirty="0"/>
          </a:p>
        </p:txBody>
      </p:sp>
      <p:sp>
        <p:nvSpPr>
          <p:cNvPr id="37" name="Text 35"/>
          <p:cNvSpPr/>
          <p:nvPr/>
        </p:nvSpPr>
        <p:spPr>
          <a:xfrm>
            <a:off x="4754880" y="3328416"/>
            <a:ext cx="4069080" cy="1335024"/>
          </a:xfrm>
          <a:prstGeom prst="rect">
            <a:avLst/>
          </a:prstGeom>
          <a:noFill/>
          <a:ln/>
        </p:spPr>
        <p:txBody>
          <a:bodyPr wrap="square" rtlCol="0" anchor="t"/>
          <a:lstStyle/>
          <a:p>
            <a:pPr marL="342900" indent="-342900">
              <a:buSzPct val="100000"/>
              <a:buChar char="•"/>
            </a:pPr>
            <a:r>
              <a:rPr lang="en-US" sz="950" dirty="0">
                <a:solidFill>
                  <a:srgbClr val="29282C"/>
                </a:solidFill>
              </a:rPr>
              <a:t>useState — local component state (form inputs, slider value, selected moods)</a:t>
            </a:r>
            <a:endParaRPr lang="en-US" sz="950" dirty="0"/>
          </a:p>
          <a:p>
            <a:pPr marL="342900" indent="-342900">
              <a:buSzPct val="100000"/>
              <a:buChar char="•"/>
            </a:pPr>
            <a:r>
              <a:rPr lang="en-US" sz="950" dirty="0">
                <a:solidFill>
                  <a:srgbClr val="29282C"/>
                </a:solidFill>
              </a:rPr>
              <a:t>useContext — global auth state shared across Dashboard, Editor, Archive</a:t>
            </a:r>
            <a:endParaRPr lang="en-US" sz="950" dirty="0"/>
          </a:p>
          <a:p>
            <a:pPr marL="342900" indent="-342900">
              <a:buSzPct val="100000"/>
              <a:buChar char="•"/>
            </a:pPr>
            <a:r>
              <a:rPr lang="en-US" sz="950" dirty="0">
                <a:solidFill>
                  <a:srgbClr val="29282C"/>
                </a:solidFill>
              </a:rPr>
              <a:t>No Redux needed — context is sufficient for this app's scope</a:t>
            </a:r>
            <a:endParaRPr lang="en-US" sz="950" dirty="0"/>
          </a:p>
          <a:p>
            <a:pPr marL="342900" indent="-342900">
              <a:buSzPct val="100000"/>
              <a:buChar char="•"/>
            </a:pPr>
            <a:r>
              <a:rPr lang="en-US" sz="950" dirty="0">
                <a:solidFill>
                  <a:srgbClr val="29282C"/>
                </a:solidFill>
              </a:rPr>
              <a:t>Axios handles all async API calls; responses trigger setState re-renders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System Architecture &amp; Data Flow</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822960"/>
            <a:ext cx="1572768" cy="2606040"/>
          </a:xfrm>
          <a:prstGeom prst="rect">
            <a:avLst/>
          </a:prstGeom>
          <a:solidFill>
            <a:srgbClr val="193366"/>
          </a:solidFill>
          <a:ln w="12700">
            <a:solidFill>
              <a:srgbClr val="FEBD01"/>
            </a:solidFill>
            <a:prstDash val="solid"/>
          </a:ln>
        </p:spPr>
      </p:sp>
      <p:sp>
        <p:nvSpPr>
          <p:cNvPr id="8" name="Shape 6"/>
          <p:cNvSpPr/>
          <p:nvPr/>
        </p:nvSpPr>
        <p:spPr>
          <a:xfrm>
            <a:off x="201168" y="822960"/>
            <a:ext cx="1572768" cy="329184"/>
          </a:xfrm>
          <a:prstGeom prst="rect">
            <a:avLst/>
          </a:prstGeom>
          <a:solidFill>
            <a:srgbClr val="FEBD01"/>
          </a:solidFill>
          <a:ln w="12700">
            <a:solidFill>
              <a:srgbClr val="FEBD01"/>
            </a:solidFill>
            <a:prstDash val="solid"/>
          </a:ln>
        </p:spPr>
      </p:sp>
      <p:sp>
        <p:nvSpPr>
          <p:cNvPr id="9" name="Text 7"/>
          <p:cNvSpPr/>
          <p:nvPr/>
        </p:nvSpPr>
        <p:spPr>
          <a:xfrm>
            <a:off x="256032" y="822960"/>
            <a:ext cx="1481328" cy="329184"/>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User Action</a:t>
            </a:r>
            <a:endParaRPr lang="en-US" sz="1000" dirty="0"/>
          </a:p>
        </p:txBody>
      </p:sp>
      <p:sp>
        <p:nvSpPr>
          <p:cNvPr id="10" name="Text 8"/>
          <p:cNvSpPr/>
          <p:nvPr/>
        </p:nvSpPr>
        <p:spPr>
          <a:xfrm>
            <a:off x="292608" y="1188720"/>
            <a:ext cx="1426464" cy="210312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Login / Register</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New Entry</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View Dashboard</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Open Archive</a:t>
            </a:r>
            <a:endParaRPr lang="en-US" sz="950" dirty="0"/>
          </a:p>
        </p:txBody>
      </p:sp>
      <p:sp>
        <p:nvSpPr>
          <p:cNvPr id="11" name="Shape 9"/>
          <p:cNvSpPr/>
          <p:nvPr/>
        </p:nvSpPr>
        <p:spPr>
          <a:xfrm>
            <a:off x="1783080" y="2029968"/>
            <a:ext cx="91440" cy="128016"/>
          </a:xfrm>
          <a:prstGeom prst="rect">
            <a:avLst/>
          </a:prstGeom>
          <a:solidFill>
            <a:srgbClr val="FEBD01"/>
          </a:solidFill>
          <a:ln w="12700">
            <a:solidFill>
              <a:srgbClr val="FEBD01"/>
            </a:solidFill>
            <a:prstDash val="solid"/>
          </a:ln>
        </p:spPr>
      </p:sp>
      <p:sp>
        <p:nvSpPr>
          <p:cNvPr id="12" name="Shape 10"/>
          <p:cNvSpPr/>
          <p:nvPr/>
        </p:nvSpPr>
        <p:spPr>
          <a:xfrm>
            <a:off x="1883664" y="822960"/>
            <a:ext cx="1572768" cy="2606040"/>
          </a:xfrm>
          <a:prstGeom prst="rect">
            <a:avLst/>
          </a:prstGeom>
          <a:solidFill>
            <a:srgbClr val="193366"/>
          </a:solidFill>
          <a:ln w="12700">
            <a:solidFill>
              <a:srgbClr val="FEBD01"/>
            </a:solidFill>
            <a:prstDash val="solid"/>
          </a:ln>
        </p:spPr>
      </p:sp>
      <p:sp>
        <p:nvSpPr>
          <p:cNvPr id="13" name="Shape 11"/>
          <p:cNvSpPr/>
          <p:nvPr/>
        </p:nvSpPr>
        <p:spPr>
          <a:xfrm>
            <a:off x="1883664" y="822960"/>
            <a:ext cx="1572768" cy="329184"/>
          </a:xfrm>
          <a:prstGeom prst="rect">
            <a:avLst/>
          </a:prstGeom>
          <a:solidFill>
            <a:srgbClr val="FEBD01"/>
          </a:solidFill>
          <a:ln w="12700">
            <a:solidFill>
              <a:srgbClr val="FEBD01"/>
            </a:solidFill>
            <a:prstDash val="solid"/>
          </a:ln>
        </p:spPr>
      </p:sp>
      <p:sp>
        <p:nvSpPr>
          <p:cNvPr id="14" name="Text 12"/>
          <p:cNvSpPr/>
          <p:nvPr/>
        </p:nvSpPr>
        <p:spPr>
          <a:xfrm>
            <a:off x="1938528" y="822960"/>
            <a:ext cx="1481328" cy="329184"/>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React Frontend</a:t>
            </a:r>
            <a:endParaRPr lang="en-US" sz="1000" dirty="0"/>
          </a:p>
        </p:txBody>
      </p:sp>
      <p:sp>
        <p:nvSpPr>
          <p:cNvPr id="15" name="Text 13"/>
          <p:cNvSpPr/>
          <p:nvPr/>
        </p:nvSpPr>
        <p:spPr>
          <a:xfrm>
            <a:off x="1975104" y="1188720"/>
            <a:ext cx="1426464" cy="210312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Component state update</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Axios API call</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Axios Interceptor</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Context re-render</a:t>
            </a:r>
            <a:endParaRPr lang="en-US" sz="950" dirty="0"/>
          </a:p>
        </p:txBody>
      </p:sp>
      <p:sp>
        <p:nvSpPr>
          <p:cNvPr id="16" name="Shape 14"/>
          <p:cNvSpPr/>
          <p:nvPr/>
        </p:nvSpPr>
        <p:spPr>
          <a:xfrm>
            <a:off x="3465576" y="2029968"/>
            <a:ext cx="91440" cy="128016"/>
          </a:xfrm>
          <a:prstGeom prst="rect">
            <a:avLst/>
          </a:prstGeom>
          <a:solidFill>
            <a:srgbClr val="FEBD01"/>
          </a:solidFill>
          <a:ln w="12700">
            <a:solidFill>
              <a:srgbClr val="FEBD01"/>
            </a:solidFill>
            <a:prstDash val="solid"/>
          </a:ln>
        </p:spPr>
      </p:sp>
      <p:sp>
        <p:nvSpPr>
          <p:cNvPr id="17" name="Shape 15"/>
          <p:cNvSpPr/>
          <p:nvPr/>
        </p:nvSpPr>
        <p:spPr>
          <a:xfrm>
            <a:off x="3566160" y="822960"/>
            <a:ext cx="1572768" cy="2606040"/>
          </a:xfrm>
          <a:prstGeom prst="rect">
            <a:avLst/>
          </a:prstGeom>
          <a:solidFill>
            <a:srgbClr val="193366"/>
          </a:solidFill>
          <a:ln w="12700">
            <a:solidFill>
              <a:srgbClr val="FEBD01"/>
            </a:solidFill>
            <a:prstDash val="solid"/>
          </a:ln>
        </p:spPr>
      </p:sp>
      <p:sp>
        <p:nvSpPr>
          <p:cNvPr id="18" name="Shape 16"/>
          <p:cNvSpPr/>
          <p:nvPr/>
        </p:nvSpPr>
        <p:spPr>
          <a:xfrm>
            <a:off x="3566160" y="822960"/>
            <a:ext cx="1572768" cy="329184"/>
          </a:xfrm>
          <a:prstGeom prst="rect">
            <a:avLst/>
          </a:prstGeom>
          <a:solidFill>
            <a:srgbClr val="FEBD01"/>
          </a:solidFill>
          <a:ln w="12700">
            <a:solidFill>
              <a:srgbClr val="FEBD01"/>
            </a:solidFill>
            <a:prstDash val="solid"/>
          </a:ln>
        </p:spPr>
      </p:sp>
      <p:sp>
        <p:nvSpPr>
          <p:cNvPr id="19" name="Text 17"/>
          <p:cNvSpPr/>
          <p:nvPr/>
        </p:nvSpPr>
        <p:spPr>
          <a:xfrm>
            <a:off x="3621024" y="822960"/>
            <a:ext cx="1481328" cy="329184"/>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Express Middleware</a:t>
            </a:r>
            <a:endParaRPr lang="en-US" sz="1000" dirty="0"/>
          </a:p>
        </p:txBody>
      </p:sp>
      <p:sp>
        <p:nvSpPr>
          <p:cNvPr id="20" name="Text 18"/>
          <p:cNvSpPr/>
          <p:nvPr/>
        </p:nvSpPr>
        <p:spPr>
          <a:xfrm>
            <a:off x="3657600" y="1188720"/>
            <a:ext cx="1426464" cy="210312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auth.js verifies JWT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Extracts userId</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Routes to controller</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Returns HTTP status</a:t>
            </a:r>
            <a:endParaRPr lang="en-US" sz="950" dirty="0"/>
          </a:p>
        </p:txBody>
      </p:sp>
      <p:sp>
        <p:nvSpPr>
          <p:cNvPr id="21" name="Shape 19"/>
          <p:cNvSpPr/>
          <p:nvPr/>
        </p:nvSpPr>
        <p:spPr>
          <a:xfrm>
            <a:off x="5148072" y="2029968"/>
            <a:ext cx="91440" cy="128016"/>
          </a:xfrm>
          <a:prstGeom prst="rect">
            <a:avLst/>
          </a:prstGeom>
          <a:solidFill>
            <a:srgbClr val="FEBD01"/>
          </a:solidFill>
          <a:ln w="12700">
            <a:solidFill>
              <a:srgbClr val="FEBD01"/>
            </a:solidFill>
            <a:prstDash val="solid"/>
          </a:ln>
        </p:spPr>
      </p:sp>
      <p:sp>
        <p:nvSpPr>
          <p:cNvPr id="22" name="Shape 20"/>
          <p:cNvSpPr/>
          <p:nvPr/>
        </p:nvSpPr>
        <p:spPr>
          <a:xfrm>
            <a:off x="5248656" y="822960"/>
            <a:ext cx="1572768" cy="2606040"/>
          </a:xfrm>
          <a:prstGeom prst="rect">
            <a:avLst/>
          </a:prstGeom>
          <a:solidFill>
            <a:srgbClr val="193366"/>
          </a:solidFill>
          <a:ln w="12700">
            <a:solidFill>
              <a:srgbClr val="FEBD01"/>
            </a:solidFill>
            <a:prstDash val="solid"/>
          </a:ln>
        </p:spPr>
      </p:sp>
      <p:sp>
        <p:nvSpPr>
          <p:cNvPr id="23" name="Shape 21"/>
          <p:cNvSpPr/>
          <p:nvPr/>
        </p:nvSpPr>
        <p:spPr>
          <a:xfrm>
            <a:off x="5248656" y="822960"/>
            <a:ext cx="1572768" cy="329184"/>
          </a:xfrm>
          <a:prstGeom prst="rect">
            <a:avLst/>
          </a:prstGeom>
          <a:solidFill>
            <a:srgbClr val="FEBD01"/>
          </a:solidFill>
          <a:ln w="12700">
            <a:solidFill>
              <a:srgbClr val="FEBD01"/>
            </a:solidFill>
            <a:prstDash val="solid"/>
          </a:ln>
        </p:spPr>
      </p:sp>
      <p:sp>
        <p:nvSpPr>
          <p:cNvPr id="24" name="Text 22"/>
          <p:cNvSpPr/>
          <p:nvPr/>
        </p:nvSpPr>
        <p:spPr>
          <a:xfrm>
            <a:off x="5303520" y="822960"/>
            <a:ext cx="1481328" cy="329184"/>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Controller Logic</a:t>
            </a:r>
            <a:endParaRPr lang="en-US" sz="1000" dirty="0"/>
          </a:p>
        </p:txBody>
      </p:sp>
      <p:sp>
        <p:nvSpPr>
          <p:cNvPr id="25" name="Text 23"/>
          <p:cNvSpPr/>
          <p:nvPr/>
        </p:nvSpPr>
        <p:spPr>
          <a:xfrm>
            <a:off x="5340096" y="1188720"/>
            <a:ext cx="1426464" cy="210312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Processes CRUD op</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Aggregates stats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Builds mood hashmap</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Formats JSON response</a:t>
            </a:r>
            <a:endParaRPr lang="en-US" sz="950" dirty="0"/>
          </a:p>
        </p:txBody>
      </p:sp>
      <p:sp>
        <p:nvSpPr>
          <p:cNvPr id="26" name="Shape 24"/>
          <p:cNvSpPr/>
          <p:nvPr/>
        </p:nvSpPr>
        <p:spPr>
          <a:xfrm>
            <a:off x="6830568" y="2029968"/>
            <a:ext cx="91440" cy="128016"/>
          </a:xfrm>
          <a:prstGeom prst="rect">
            <a:avLst/>
          </a:prstGeom>
          <a:solidFill>
            <a:srgbClr val="FEBD01"/>
          </a:solidFill>
          <a:ln w="12700">
            <a:solidFill>
              <a:srgbClr val="FEBD01"/>
            </a:solidFill>
            <a:prstDash val="solid"/>
          </a:ln>
        </p:spPr>
      </p:sp>
      <p:sp>
        <p:nvSpPr>
          <p:cNvPr id="27" name="Shape 25"/>
          <p:cNvSpPr/>
          <p:nvPr/>
        </p:nvSpPr>
        <p:spPr>
          <a:xfrm>
            <a:off x="6931152" y="822960"/>
            <a:ext cx="1572768" cy="2606040"/>
          </a:xfrm>
          <a:prstGeom prst="rect">
            <a:avLst/>
          </a:prstGeom>
          <a:solidFill>
            <a:srgbClr val="193366"/>
          </a:solidFill>
          <a:ln w="12700">
            <a:solidFill>
              <a:srgbClr val="FEBD01"/>
            </a:solidFill>
            <a:prstDash val="solid"/>
          </a:ln>
        </p:spPr>
      </p:sp>
      <p:sp>
        <p:nvSpPr>
          <p:cNvPr id="28" name="Shape 26"/>
          <p:cNvSpPr/>
          <p:nvPr/>
        </p:nvSpPr>
        <p:spPr>
          <a:xfrm>
            <a:off x="6931152" y="822960"/>
            <a:ext cx="1572768" cy="329184"/>
          </a:xfrm>
          <a:prstGeom prst="rect">
            <a:avLst/>
          </a:prstGeom>
          <a:solidFill>
            <a:srgbClr val="FEBD01"/>
          </a:solidFill>
          <a:ln w="12700">
            <a:solidFill>
              <a:srgbClr val="FEBD01"/>
            </a:solidFill>
            <a:prstDash val="solid"/>
          </a:ln>
        </p:spPr>
      </p:sp>
      <p:sp>
        <p:nvSpPr>
          <p:cNvPr id="29" name="Text 27"/>
          <p:cNvSpPr/>
          <p:nvPr/>
        </p:nvSpPr>
        <p:spPr>
          <a:xfrm>
            <a:off x="6986016" y="822960"/>
            <a:ext cx="1481328" cy="329184"/>
          </a:xfrm>
          <a:prstGeom prst="rect">
            <a:avLst/>
          </a:prstGeom>
          <a:noFill/>
          <a:ln/>
        </p:spPr>
        <p:txBody>
          <a:bodyPr wrap="square" lIns="0" tIns="0" rIns="0" bIns="0" rtlCol="0" anchor="ctr"/>
          <a:lstStyle/>
          <a:p>
            <a:pPr marL="0" indent="0">
              <a:buNone/>
            </a:pPr>
            <a:r>
              <a:rPr lang="en-US" sz="1000" b="1" dirty="0">
                <a:solidFill>
                  <a:srgbClr val="29282C"/>
                </a:solidFill>
                <a:latin typeface="Arial" pitchFamily="34" charset="0"/>
                <a:ea typeface="Arial" pitchFamily="34" charset="-122"/>
                <a:cs typeface="Arial" pitchFamily="34" charset="-120"/>
              </a:rPr>
              <a:t>MongoDB Atlas</a:t>
            </a:r>
            <a:endParaRPr lang="en-US" sz="1000" dirty="0"/>
          </a:p>
        </p:txBody>
      </p:sp>
      <p:sp>
        <p:nvSpPr>
          <p:cNvPr id="30" name="Text 28"/>
          <p:cNvSpPr/>
          <p:nvPr/>
        </p:nvSpPr>
        <p:spPr>
          <a:xfrm>
            <a:off x="7022592" y="1188720"/>
            <a:ext cx="1426464" cy="210312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users collection</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journals collection</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Document read/write</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Index on userId</a:t>
            </a:r>
            <a:endParaRPr lang="en-US" sz="950" dirty="0"/>
          </a:p>
        </p:txBody>
      </p:sp>
      <p:sp>
        <p:nvSpPr>
          <p:cNvPr id="31" name="Shape 29"/>
          <p:cNvSpPr/>
          <p:nvPr/>
        </p:nvSpPr>
        <p:spPr>
          <a:xfrm>
            <a:off x="201168" y="3611880"/>
            <a:ext cx="8732520" cy="1115568"/>
          </a:xfrm>
          <a:prstGeom prst="rect">
            <a:avLst/>
          </a:prstGeom>
          <a:solidFill>
            <a:srgbClr val="F5F6FA"/>
          </a:solidFill>
          <a:ln w="10160">
            <a:solidFill>
              <a:srgbClr val="8892A4"/>
            </a:solidFill>
            <a:prstDash val="solid"/>
          </a:ln>
        </p:spPr>
      </p:sp>
      <p:sp>
        <p:nvSpPr>
          <p:cNvPr id="32" name="Text 30"/>
          <p:cNvSpPr/>
          <p:nvPr/>
        </p:nvSpPr>
        <p:spPr>
          <a:xfrm>
            <a:off x="201168" y="3611880"/>
            <a:ext cx="8732520" cy="347472"/>
          </a:xfrm>
          <a:prstGeom prst="rect">
            <a:avLst/>
          </a:prstGeom>
          <a:noFill/>
          <a:ln/>
        </p:spPr>
        <p:txBody>
          <a:bodyPr wrap="square" rtlCol="0" anchor="ctr"/>
          <a:lstStyle/>
          <a:p>
            <a:pPr marL="0" indent="0" algn="ctr">
              <a:buNone/>
            </a:pPr>
            <a:r>
              <a:rPr lang="en-US" sz="1200" b="1" dirty="0">
                <a:solidFill>
                  <a:srgbClr val="8892A4"/>
                </a:solidFill>
                <a:latin typeface="Arial" pitchFamily="34" charset="0"/>
                <a:ea typeface="Arial" pitchFamily="34" charset="-122"/>
                <a:cs typeface="Arial" pitchFamily="34" charset="-120"/>
              </a:rPr>
              <a:t>[ERD / Entity Relationship Diagram Placeholder]</a:t>
            </a:r>
            <a:endParaRPr lang="en-US" sz="1200" dirty="0"/>
          </a:p>
        </p:txBody>
      </p:sp>
      <p:sp>
        <p:nvSpPr>
          <p:cNvPr id="33" name="Text 31"/>
          <p:cNvSpPr/>
          <p:nvPr/>
        </p:nvSpPr>
        <p:spPr>
          <a:xfrm>
            <a:off x="365760" y="3986784"/>
            <a:ext cx="8412480" cy="658368"/>
          </a:xfrm>
          <a:prstGeom prst="rect">
            <a:avLst/>
          </a:prstGeom>
          <a:noFill/>
          <a:ln/>
        </p:spPr>
        <p:txBody>
          <a:bodyPr wrap="square" rtlCol="0" anchor="ctr"/>
          <a:lstStyle/>
          <a:p>
            <a:pPr marL="0" indent="0" algn="ctr">
              <a:buNone/>
            </a:pPr>
            <a:r>
              <a:rPr lang="en-US" sz="1000" i="1" dirty="0">
                <a:solidFill>
                  <a:srgbClr val="8892A4"/>
                </a:solidFill>
                <a:latin typeface="Arial" pitchFamily="34" charset="0"/>
                <a:ea typeface="Arial" pitchFamily="34" charset="-122"/>
                <a:cs typeface="Arial" pitchFamily="34" charset="-120"/>
              </a:rPr>
              <a:t>Replace this box with your ERD diagram showing the users ↔ journals 1-to-N relationship  |  Suggested tool: dbdiagram.io or draw.io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Testing, QA &amp; Challenges Overcome</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5120640" cy="3986784"/>
          </a:xfrm>
          <a:prstGeom prst="rect">
            <a:avLst/>
          </a:prstGeom>
          <a:solidFill>
            <a:srgbClr val="FFFFFF"/>
          </a:solidFill>
          <a:ln w="12700">
            <a:solidFill>
              <a:srgbClr val="193366"/>
            </a:solidFill>
            <a:prstDash val="solid"/>
          </a:ln>
          <a:effectLst>
            <a:outerShdw blurRad="63500" dist="25400" dir="8100000" algn="bl" rotWithShape="0">
              <a:srgbClr val="000000">
                <a:alpha val="8000"/>
              </a:srgbClr>
            </a:outerShdw>
          </a:effectLst>
        </p:spPr>
      </p:sp>
      <p:sp>
        <p:nvSpPr>
          <p:cNvPr id="8" name="Shape 6"/>
          <p:cNvSpPr/>
          <p:nvPr/>
        </p:nvSpPr>
        <p:spPr>
          <a:xfrm>
            <a:off x="292608" y="804672"/>
            <a:ext cx="54864" cy="274320"/>
          </a:xfrm>
          <a:prstGeom prst="rect">
            <a:avLst/>
          </a:prstGeom>
          <a:solidFill>
            <a:srgbClr val="FEBD01"/>
          </a:solidFill>
          <a:ln w="12700">
            <a:solidFill>
              <a:srgbClr val="FEBD01"/>
            </a:solidFill>
            <a:prstDash val="solid"/>
          </a:ln>
        </p:spPr>
      </p:sp>
      <p:sp>
        <p:nvSpPr>
          <p:cNvPr id="9" name="Text 7"/>
          <p:cNvSpPr/>
          <p:nvPr/>
        </p:nvSpPr>
        <p:spPr>
          <a:xfrm>
            <a:off x="420624" y="804672"/>
            <a:ext cx="4389120" cy="274320"/>
          </a:xfrm>
          <a:prstGeom prst="rect">
            <a:avLst/>
          </a:prstGeom>
          <a:noFill/>
          <a:ln/>
        </p:spPr>
        <p:txBody>
          <a:bodyPr wrap="square" rtlCol="0" anchor="ctr"/>
          <a:lstStyle/>
          <a:p>
            <a:pPr marL="0" indent="0">
              <a:buNone/>
            </a:pPr>
            <a:r>
              <a:rPr lang="en-US" sz="1100" b="1" dirty="0">
                <a:solidFill>
                  <a:srgbClr val="193366"/>
                </a:solidFill>
                <a:latin typeface="Arial" pitchFamily="34" charset="0"/>
                <a:ea typeface="Arial" pitchFamily="34" charset="-122"/>
                <a:cs typeface="Arial" pitchFamily="34" charset="-120"/>
              </a:rPr>
              <a:t>Testing Methodology</a:t>
            </a:r>
            <a:endParaRPr lang="en-US" sz="1100" dirty="0"/>
          </a:p>
        </p:txBody>
      </p:sp>
      <p:sp>
        <p:nvSpPr>
          <p:cNvPr id="10" name="Shape 8"/>
          <p:cNvSpPr/>
          <p:nvPr/>
        </p:nvSpPr>
        <p:spPr>
          <a:xfrm>
            <a:off x="274320" y="1097280"/>
            <a:ext cx="4974336" cy="566928"/>
          </a:xfrm>
          <a:prstGeom prst="rect">
            <a:avLst/>
          </a:prstGeom>
          <a:solidFill>
            <a:srgbClr val="F5F6FA"/>
          </a:solidFill>
          <a:ln w="6350">
            <a:solidFill>
              <a:srgbClr val="D0D5DD"/>
            </a:solidFill>
            <a:prstDash val="solid"/>
          </a:ln>
        </p:spPr>
      </p:sp>
      <p:sp>
        <p:nvSpPr>
          <p:cNvPr id="11" name="Text 9"/>
          <p:cNvSpPr/>
          <p:nvPr/>
        </p:nvSpPr>
        <p:spPr>
          <a:xfrm>
            <a:off x="347472" y="1152144"/>
            <a:ext cx="4828032"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Boundary Testing:</a:t>
            </a:r>
            <a:endParaRPr lang="en-US" sz="1000" dirty="0"/>
          </a:p>
        </p:txBody>
      </p:sp>
      <p:sp>
        <p:nvSpPr>
          <p:cNvPr id="12" name="Text 10"/>
          <p:cNvSpPr/>
          <p:nvPr/>
        </p:nvSpPr>
        <p:spPr>
          <a:xfrm>
            <a:off x="347472" y="1353312"/>
            <a:ext cx="4828032" cy="274320"/>
          </a:xfrm>
          <a:prstGeom prst="rect">
            <a:avLst/>
          </a:prstGeom>
          <a:noFill/>
          <a:ln/>
        </p:spPr>
        <p:txBody>
          <a:bodyPr wrap="square" rtlCol="0" anchor="ctr"/>
          <a:lstStyle/>
          <a:p>
            <a:pPr marL="0" indent="0">
              <a:buNone/>
            </a:pPr>
            <a:r>
              <a:rPr lang="en-US" sz="950" dirty="0">
                <a:solidFill>
                  <a:srgbClr val="444444"/>
                </a:solidFill>
                <a:latin typeface="Arial" pitchFamily="34" charset="0"/>
                <a:ea typeface="Arial" pitchFamily="34" charset="-122"/>
                <a:cs typeface="Arial" pitchFamily="34" charset="-120"/>
              </a:rPr>
              <a:t>Attempted content field &lt; 10 chars → Mongoose schema error caught → HTTP 400 returned, server never crashes.</a:t>
            </a:r>
            <a:endParaRPr lang="en-US" sz="950" dirty="0"/>
          </a:p>
        </p:txBody>
      </p:sp>
      <p:sp>
        <p:nvSpPr>
          <p:cNvPr id="13" name="Shape 11"/>
          <p:cNvSpPr/>
          <p:nvPr/>
        </p:nvSpPr>
        <p:spPr>
          <a:xfrm>
            <a:off x="274320" y="1719072"/>
            <a:ext cx="4974336" cy="566928"/>
          </a:xfrm>
          <a:prstGeom prst="rect">
            <a:avLst/>
          </a:prstGeom>
          <a:solidFill>
            <a:srgbClr val="F5F6FA"/>
          </a:solidFill>
          <a:ln w="6350">
            <a:solidFill>
              <a:srgbClr val="D0D5DD"/>
            </a:solidFill>
            <a:prstDash val="solid"/>
          </a:ln>
        </p:spPr>
      </p:sp>
      <p:sp>
        <p:nvSpPr>
          <p:cNvPr id="14" name="Text 12"/>
          <p:cNvSpPr/>
          <p:nvPr/>
        </p:nvSpPr>
        <p:spPr>
          <a:xfrm>
            <a:off x="347472" y="1773936"/>
            <a:ext cx="4828032"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Enum Injection Testing:</a:t>
            </a:r>
            <a:endParaRPr lang="en-US" sz="1000" dirty="0"/>
          </a:p>
        </p:txBody>
      </p:sp>
      <p:sp>
        <p:nvSpPr>
          <p:cNvPr id="15" name="Text 13"/>
          <p:cNvSpPr/>
          <p:nvPr/>
        </p:nvSpPr>
        <p:spPr>
          <a:xfrm>
            <a:off x="347472" y="1975104"/>
            <a:ext cx="4828032" cy="274320"/>
          </a:xfrm>
          <a:prstGeom prst="rect">
            <a:avLst/>
          </a:prstGeom>
          <a:noFill/>
          <a:ln/>
        </p:spPr>
        <p:txBody>
          <a:bodyPr wrap="square" rtlCol="0" anchor="ctr"/>
          <a:lstStyle/>
          <a:p>
            <a:pPr marL="0" indent="0">
              <a:buNone/>
            </a:pPr>
            <a:r>
              <a:rPr lang="en-US" sz="950" dirty="0">
                <a:solidFill>
                  <a:srgbClr val="444444"/>
                </a:solidFill>
                <a:latin typeface="Arial" pitchFamily="34" charset="0"/>
                <a:ea typeface="Arial" pitchFamily="34" charset="-122"/>
                <a:cs typeface="Arial" pitchFamily="34" charset="-120"/>
              </a:rPr>
              <a:t>Injected invalid mood values not in the enum list → Mongoose validation rejects document at schema level.</a:t>
            </a:r>
            <a:endParaRPr lang="en-US" sz="950" dirty="0"/>
          </a:p>
        </p:txBody>
      </p:sp>
      <p:sp>
        <p:nvSpPr>
          <p:cNvPr id="16" name="Shape 14"/>
          <p:cNvSpPr/>
          <p:nvPr/>
        </p:nvSpPr>
        <p:spPr>
          <a:xfrm>
            <a:off x="274320" y="2340864"/>
            <a:ext cx="4974336" cy="566928"/>
          </a:xfrm>
          <a:prstGeom prst="rect">
            <a:avLst/>
          </a:prstGeom>
          <a:solidFill>
            <a:srgbClr val="F5F6FA"/>
          </a:solidFill>
          <a:ln w="6350">
            <a:solidFill>
              <a:srgbClr val="D0D5DD"/>
            </a:solidFill>
            <a:prstDash val="solid"/>
          </a:ln>
        </p:spPr>
      </p:sp>
      <p:sp>
        <p:nvSpPr>
          <p:cNvPr id="17" name="Text 15"/>
          <p:cNvSpPr/>
          <p:nvPr/>
        </p:nvSpPr>
        <p:spPr>
          <a:xfrm>
            <a:off x="347472" y="2395728"/>
            <a:ext cx="4828032"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Auth Bypass Testing:</a:t>
            </a:r>
            <a:endParaRPr lang="en-US" sz="1000" dirty="0"/>
          </a:p>
        </p:txBody>
      </p:sp>
      <p:sp>
        <p:nvSpPr>
          <p:cNvPr id="18" name="Text 16"/>
          <p:cNvSpPr/>
          <p:nvPr/>
        </p:nvSpPr>
        <p:spPr>
          <a:xfrm>
            <a:off x="347472" y="2596896"/>
            <a:ext cx="4828032" cy="274320"/>
          </a:xfrm>
          <a:prstGeom prst="rect">
            <a:avLst/>
          </a:prstGeom>
          <a:noFill/>
          <a:ln/>
        </p:spPr>
        <p:txBody>
          <a:bodyPr wrap="square" rtlCol="0" anchor="ctr"/>
          <a:lstStyle/>
          <a:p>
            <a:pPr marL="0" indent="0">
              <a:buNone/>
            </a:pPr>
            <a:r>
              <a:rPr lang="en-US" sz="950" dirty="0">
                <a:solidFill>
                  <a:srgbClr val="444444"/>
                </a:solidFill>
                <a:latin typeface="Arial" pitchFamily="34" charset="0"/>
                <a:ea typeface="Arial" pitchFamily="34" charset="-122"/>
                <a:cs typeface="Arial" pitchFamily="34" charset="-120"/>
              </a:rPr>
              <a:t>Called /api/journals without a token, with expired token, with tampered token → all three correctly return HTTP 401/403.</a:t>
            </a:r>
            <a:endParaRPr lang="en-US" sz="950" dirty="0"/>
          </a:p>
        </p:txBody>
      </p:sp>
      <p:sp>
        <p:nvSpPr>
          <p:cNvPr id="19" name="Shape 17"/>
          <p:cNvSpPr/>
          <p:nvPr/>
        </p:nvSpPr>
        <p:spPr>
          <a:xfrm>
            <a:off x="274320" y="2962656"/>
            <a:ext cx="4974336" cy="566928"/>
          </a:xfrm>
          <a:prstGeom prst="rect">
            <a:avLst/>
          </a:prstGeom>
          <a:solidFill>
            <a:srgbClr val="F5F6FA"/>
          </a:solidFill>
          <a:ln w="6350">
            <a:solidFill>
              <a:srgbClr val="D0D5DD"/>
            </a:solidFill>
            <a:prstDash val="solid"/>
          </a:ln>
        </p:spPr>
      </p:sp>
      <p:sp>
        <p:nvSpPr>
          <p:cNvPr id="20" name="Text 18"/>
          <p:cNvSpPr/>
          <p:nvPr/>
        </p:nvSpPr>
        <p:spPr>
          <a:xfrm>
            <a:off x="347472" y="3017520"/>
            <a:ext cx="4828032"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Token Expiry Testing:</a:t>
            </a:r>
            <a:endParaRPr lang="en-US" sz="1000" dirty="0"/>
          </a:p>
        </p:txBody>
      </p:sp>
      <p:sp>
        <p:nvSpPr>
          <p:cNvPr id="21" name="Text 19"/>
          <p:cNvSpPr/>
          <p:nvPr/>
        </p:nvSpPr>
        <p:spPr>
          <a:xfrm>
            <a:off x="347472" y="3218688"/>
            <a:ext cx="4828032" cy="274320"/>
          </a:xfrm>
          <a:prstGeom prst="rect">
            <a:avLst/>
          </a:prstGeom>
          <a:noFill/>
          <a:ln/>
        </p:spPr>
        <p:txBody>
          <a:bodyPr wrap="square" rtlCol="0" anchor="ctr"/>
          <a:lstStyle/>
          <a:p>
            <a:pPr marL="0" indent="0">
              <a:buNone/>
            </a:pPr>
            <a:r>
              <a:rPr lang="en-US" sz="950" dirty="0">
                <a:solidFill>
                  <a:srgbClr val="444444"/>
                </a:solidFill>
                <a:latin typeface="Arial" pitchFamily="34" charset="0"/>
                <a:ea typeface="Arial" pitchFamily="34" charset="-122"/>
                <a:cs typeface="Arial" pitchFamily="34" charset="-120"/>
              </a:rPr>
              <a:t>Manually set JWT expiry to 10 seconds → confirmed Axios Interceptor catches 403 and redirects to login portal gracefully.</a:t>
            </a:r>
            <a:endParaRPr lang="en-US" sz="950" dirty="0"/>
          </a:p>
        </p:txBody>
      </p:sp>
      <p:sp>
        <p:nvSpPr>
          <p:cNvPr id="22" name="Shape 20"/>
          <p:cNvSpPr/>
          <p:nvPr/>
        </p:nvSpPr>
        <p:spPr>
          <a:xfrm>
            <a:off x="274320" y="3584448"/>
            <a:ext cx="4974336" cy="566928"/>
          </a:xfrm>
          <a:prstGeom prst="rect">
            <a:avLst/>
          </a:prstGeom>
          <a:solidFill>
            <a:srgbClr val="F5F6FA"/>
          </a:solidFill>
          <a:ln w="6350">
            <a:solidFill>
              <a:srgbClr val="D0D5DD"/>
            </a:solidFill>
            <a:prstDash val="solid"/>
          </a:ln>
        </p:spPr>
      </p:sp>
      <p:sp>
        <p:nvSpPr>
          <p:cNvPr id="23" name="Text 21"/>
          <p:cNvSpPr/>
          <p:nvPr/>
        </p:nvSpPr>
        <p:spPr>
          <a:xfrm>
            <a:off x="347472" y="3639312"/>
            <a:ext cx="4828032"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Frontend Validation:</a:t>
            </a:r>
            <a:endParaRPr lang="en-US" sz="1000" dirty="0"/>
          </a:p>
        </p:txBody>
      </p:sp>
      <p:sp>
        <p:nvSpPr>
          <p:cNvPr id="24" name="Text 22"/>
          <p:cNvSpPr/>
          <p:nvPr/>
        </p:nvSpPr>
        <p:spPr>
          <a:xfrm>
            <a:off x="347472" y="3840480"/>
            <a:ext cx="4828032" cy="274320"/>
          </a:xfrm>
          <a:prstGeom prst="rect">
            <a:avLst/>
          </a:prstGeom>
          <a:noFill/>
          <a:ln/>
        </p:spPr>
        <p:txBody>
          <a:bodyPr wrap="square" rtlCol="0" anchor="ctr"/>
          <a:lstStyle/>
          <a:p>
            <a:pPr marL="0" indent="0">
              <a:buNone/>
            </a:pPr>
            <a:r>
              <a:rPr lang="en-US" sz="950" dirty="0">
                <a:solidFill>
                  <a:srgbClr val="444444"/>
                </a:solidFill>
                <a:latin typeface="Arial" pitchFamily="34" charset="0"/>
                <a:ea typeface="Arial" pitchFamily="34" charset="-122"/>
                <a:cs typeface="Arial" pitchFamily="34" charset="-120"/>
              </a:rPr>
              <a:t>Submitted empty title / content fields → form-level validation prevents API call from firing at all.</a:t>
            </a:r>
            <a:endParaRPr lang="en-US" sz="950" dirty="0"/>
          </a:p>
        </p:txBody>
      </p:sp>
      <p:sp>
        <p:nvSpPr>
          <p:cNvPr id="25" name="Shape 23"/>
          <p:cNvSpPr/>
          <p:nvPr/>
        </p:nvSpPr>
        <p:spPr>
          <a:xfrm>
            <a:off x="274320" y="4206240"/>
            <a:ext cx="4974336" cy="566928"/>
          </a:xfrm>
          <a:prstGeom prst="rect">
            <a:avLst/>
          </a:prstGeom>
          <a:solidFill>
            <a:srgbClr val="F5F6FA"/>
          </a:solidFill>
          <a:ln w="6350">
            <a:solidFill>
              <a:srgbClr val="D0D5DD"/>
            </a:solidFill>
            <a:prstDash val="solid"/>
          </a:ln>
        </p:spPr>
      </p:sp>
      <p:sp>
        <p:nvSpPr>
          <p:cNvPr id="26" name="Text 24"/>
          <p:cNvSpPr/>
          <p:nvPr/>
        </p:nvSpPr>
        <p:spPr>
          <a:xfrm>
            <a:off x="347472" y="4261104"/>
            <a:ext cx="4828032" cy="201168"/>
          </a:xfrm>
          <a:prstGeom prst="rect">
            <a:avLst/>
          </a:prstGeom>
          <a:noFill/>
          <a:ln/>
        </p:spPr>
        <p:txBody>
          <a:bodyPr wrap="square" rtlCol="0" anchor="ctr"/>
          <a:lstStyle/>
          <a:p>
            <a:pPr marL="0" indent="0">
              <a:buNone/>
            </a:pPr>
            <a:r>
              <a:rPr lang="en-US" sz="1000" b="1" dirty="0">
                <a:solidFill>
                  <a:srgbClr val="193366"/>
                </a:solidFill>
                <a:latin typeface="Arial" pitchFamily="34" charset="0"/>
                <a:ea typeface="Arial" pitchFamily="34" charset="-122"/>
                <a:cs typeface="Arial" pitchFamily="34" charset="-120"/>
              </a:rPr>
              <a:t>Concurrent Requests:</a:t>
            </a:r>
            <a:endParaRPr lang="en-US" sz="1000" dirty="0"/>
          </a:p>
        </p:txBody>
      </p:sp>
      <p:sp>
        <p:nvSpPr>
          <p:cNvPr id="27" name="Text 25"/>
          <p:cNvSpPr/>
          <p:nvPr/>
        </p:nvSpPr>
        <p:spPr>
          <a:xfrm>
            <a:off x="347472" y="4462272"/>
            <a:ext cx="4828032" cy="274320"/>
          </a:xfrm>
          <a:prstGeom prst="rect">
            <a:avLst/>
          </a:prstGeom>
          <a:noFill/>
          <a:ln/>
        </p:spPr>
        <p:txBody>
          <a:bodyPr wrap="square" rtlCol="0" anchor="ctr"/>
          <a:lstStyle/>
          <a:p>
            <a:pPr marL="0" indent="0">
              <a:buNone/>
            </a:pPr>
            <a:r>
              <a:rPr lang="en-US" sz="950" dirty="0">
                <a:solidFill>
                  <a:srgbClr val="444444"/>
                </a:solidFill>
                <a:latin typeface="Arial" pitchFamily="34" charset="0"/>
                <a:ea typeface="Arial" pitchFamily="34" charset="-122"/>
                <a:cs typeface="Arial" pitchFamily="34" charset="-120"/>
              </a:rPr>
              <a:t>Multiple Axios calls firing simultaneously (dashboard + stats) → Node.js async I/O handles both without blocking.</a:t>
            </a:r>
            <a:endParaRPr lang="en-US" sz="950" dirty="0"/>
          </a:p>
        </p:txBody>
      </p:sp>
      <p:sp>
        <p:nvSpPr>
          <p:cNvPr id="28" name="Shape 26"/>
          <p:cNvSpPr/>
          <p:nvPr/>
        </p:nvSpPr>
        <p:spPr>
          <a:xfrm>
            <a:off x="5504688" y="749808"/>
            <a:ext cx="3429000" cy="3986784"/>
          </a:xfrm>
          <a:prstGeom prst="rect">
            <a:avLst/>
          </a:prstGeom>
          <a:solidFill>
            <a:srgbClr val="193366"/>
          </a:solidFill>
          <a:ln w="12700">
            <a:solidFill>
              <a:srgbClr val="193366"/>
            </a:solidFill>
            <a:prstDash val="solid"/>
          </a:ln>
          <a:effectLst>
            <a:outerShdw blurRad="63500" dist="25400" dir="8100000" algn="bl" rotWithShape="0">
              <a:srgbClr val="000000">
                <a:alpha val="8000"/>
              </a:srgbClr>
            </a:outerShdw>
          </a:effectLst>
        </p:spPr>
      </p:sp>
      <p:sp>
        <p:nvSpPr>
          <p:cNvPr id="29" name="Shape 27"/>
          <p:cNvSpPr/>
          <p:nvPr/>
        </p:nvSpPr>
        <p:spPr>
          <a:xfrm>
            <a:off x="5596128" y="804672"/>
            <a:ext cx="54864" cy="274320"/>
          </a:xfrm>
          <a:prstGeom prst="rect">
            <a:avLst/>
          </a:prstGeom>
          <a:solidFill>
            <a:srgbClr val="FEBD01"/>
          </a:solidFill>
          <a:ln w="12700">
            <a:solidFill>
              <a:srgbClr val="FEBD01"/>
            </a:solidFill>
            <a:prstDash val="solid"/>
          </a:ln>
        </p:spPr>
      </p:sp>
      <p:sp>
        <p:nvSpPr>
          <p:cNvPr id="30" name="Text 28"/>
          <p:cNvSpPr/>
          <p:nvPr/>
        </p:nvSpPr>
        <p:spPr>
          <a:xfrm>
            <a:off x="5724144" y="804672"/>
            <a:ext cx="3017520" cy="274320"/>
          </a:xfrm>
          <a:prstGeom prst="rect">
            <a:avLst/>
          </a:prstGeom>
          <a:noFill/>
          <a:ln/>
        </p:spPr>
        <p:txBody>
          <a:bodyPr wrap="square" rtlCol="0" anchor="ctr"/>
          <a:lstStyle/>
          <a:p>
            <a:pPr marL="0" indent="0">
              <a:buNone/>
            </a:pPr>
            <a:r>
              <a:rPr lang="en-US" sz="1100" b="1" dirty="0">
                <a:solidFill>
                  <a:srgbClr val="FEBD01"/>
                </a:solidFill>
                <a:latin typeface="Arial" pitchFamily="34" charset="0"/>
                <a:ea typeface="Arial" pitchFamily="34" charset="-122"/>
                <a:cs typeface="Arial" pitchFamily="34" charset="-120"/>
              </a:rPr>
              <a:t>Challenges &amp; Solutions</a:t>
            </a:r>
            <a:endParaRPr lang="en-US" sz="1100" dirty="0"/>
          </a:p>
        </p:txBody>
      </p:sp>
      <p:sp>
        <p:nvSpPr>
          <p:cNvPr id="31" name="Shape 29"/>
          <p:cNvSpPr/>
          <p:nvPr/>
        </p:nvSpPr>
        <p:spPr>
          <a:xfrm>
            <a:off x="5577840" y="1097280"/>
            <a:ext cx="3264408" cy="877824"/>
          </a:xfrm>
          <a:prstGeom prst="rect">
            <a:avLst/>
          </a:prstGeom>
          <a:solidFill>
            <a:srgbClr val="1E3F7A"/>
          </a:solidFill>
          <a:ln w="7620">
            <a:solidFill>
              <a:srgbClr val="FEBD01"/>
            </a:solidFill>
            <a:prstDash val="solid"/>
          </a:ln>
        </p:spPr>
      </p:sp>
      <p:sp>
        <p:nvSpPr>
          <p:cNvPr id="32" name="Text 30"/>
          <p:cNvSpPr/>
          <p:nvPr/>
        </p:nvSpPr>
        <p:spPr>
          <a:xfrm>
            <a:off x="5650992" y="1152144"/>
            <a:ext cx="3127248" cy="347472"/>
          </a:xfrm>
          <a:prstGeom prst="rect">
            <a:avLst/>
          </a:prstGeom>
          <a:noFill/>
          <a:ln/>
        </p:spPr>
        <p:txBody>
          <a:bodyPr wrap="square" rtlCol="0" anchor="t"/>
          <a:lstStyle/>
          <a:p>
            <a:pPr marL="0" indent="0">
              <a:buNone/>
            </a:pPr>
            <a:r>
              <a:rPr lang="en-US" sz="950" dirty="0">
                <a:solidFill>
                  <a:srgbClr val="FFCCCC"/>
                </a:solidFill>
                <a:latin typeface="Arial" pitchFamily="34" charset="0"/>
                <a:ea typeface="Arial" pitchFamily="34" charset="-122"/>
                <a:cs typeface="Arial" pitchFamily="34" charset="-120"/>
              </a:rPr>
              <a:t>Challenge: JWT expiry left users stranded on Dashboard</a:t>
            </a:r>
            <a:endParaRPr lang="en-US" sz="950" dirty="0"/>
          </a:p>
        </p:txBody>
      </p:sp>
      <p:sp>
        <p:nvSpPr>
          <p:cNvPr id="33" name="Text 31"/>
          <p:cNvSpPr/>
          <p:nvPr/>
        </p:nvSpPr>
        <p:spPr>
          <a:xfrm>
            <a:off x="5650992" y="1536192"/>
            <a:ext cx="3127248" cy="384048"/>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Solution: Built global Axios Interceptor listening for 401/403 → auto-redirects to login</a:t>
            </a:r>
            <a:endParaRPr lang="en-US" sz="950" dirty="0"/>
          </a:p>
        </p:txBody>
      </p:sp>
      <p:sp>
        <p:nvSpPr>
          <p:cNvPr id="34" name="Shape 32"/>
          <p:cNvSpPr/>
          <p:nvPr/>
        </p:nvSpPr>
        <p:spPr>
          <a:xfrm>
            <a:off x="5577840" y="2048256"/>
            <a:ext cx="3264408" cy="877824"/>
          </a:xfrm>
          <a:prstGeom prst="rect">
            <a:avLst/>
          </a:prstGeom>
          <a:solidFill>
            <a:srgbClr val="1E3F7A"/>
          </a:solidFill>
          <a:ln w="7620">
            <a:solidFill>
              <a:srgbClr val="FEBD01"/>
            </a:solidFill>
            <a:prstDash val="solid"/>
          </a:ln>
        </p:spPr>
      </p:sp>
      <p:sp>
        <p:nvSpPr>
          <p:cNvPr id="35" name="Text 33"/>
          <p:cNvSpPr/>
          <p:nvPr/>
        </p:nvSpPr>
        <p:spPr>
          <a:xfrm>
            <a:off x="5650992" y="2103120"/>
            <a:ext cx="3127248" cy="347472"/>
          </a:xfrm>
          <a:prstGeom prst="rect">
            <a:avLst/>
          </a:prstGeom>
          <a:noFill/>
          <a:ln/>
        </p:spPr>
        <p:txBody>
          <a:bodyPr wrap="square" rtlCol="0" anchor="t"/>
          <a:lstStyle/>
          <a:p>
            <a:pPr marL="0" indent="0">
              <a:buNone/>
            </a:pPr>
            <a:r>
              <a:rPr lang="en-US" sz="950" dirty="0">
                <a:solidFill>
                  <a:srgbClr val="FFCCCC"/>
                </a:solidFill>
                <a:latin typeface="Arial" pitchFamily="34" charset="0"/>
                <a:ea typeface="Arial" pitchFamily="34" charset="-122"/>
                <a:cs typeface="Arial" pitchFamily="34" charset="-120"/>
              </a:rPr>
              <a:t>Challenge: Mood state was resetting on re-render</a:t>
            </a:r>
            <a:endParaRPr lang="en-US" sz="950" dirty="0"/>
          </a:p>
        </p:txBody>
      </p:sp>
      <p:sp>
        <p:nvSpPr>
          <p:cNvPr id="36" name="Text 34"/>
          <p:cNvSpPr/>
          <p:nvPr/>
        </p:nvSpPr>
        <p:spPr>
          <a:xfrm>
            <a:off x="5650992" y="2487168"/>
            <a:ext cx="3127248" cy="384048"/>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Solution: Moved mood array into useContext so it persists across component mount/unmount cycles</a:t>
            </a:r>
            <a:endParaRPr lang="en-US" sz="950" dirty="0"/>
          </a:p>
        </p:txBody>
      </p:sp>
      <p:sp>
        <p:nvSpPr>
          <p:cNvPr id="37" name="Shape 35"/>
          <p:cNvSpPr/>
          <p:nvPr/>
        </p:nvSpPr>
        <p:spPr>
          <a:xfrm>
            <a:off x="5577840" y="2999232"/>
            <a:ext cx="3264408" cy="877824"/>
          </a:xfrm>
          <a:prstGeom prst="rect">
            <a:avLst/>
          </a:prstGeom>
          <a:solidFill>
            <a:srgbClr val="1E3F7A"/>
          </a:solidFill>
          <a:ln w="7620">
            <a:solidFill>
              <a:srgbClr val="FEBD01"/>
            </a:solidFill>
            <a:prstDash val="solid"/>
          </a:ln>
        </p:spPr>
      </p:sp>
      <p:sp>
        <p:nvSpPr>
          <p:cNvPr id="38" name="Text 36"/>
          <p:cNvSpPr/>
          <p:nvPr/>
        </p:nvSpPr>
        <p:spPr>
          <a:xfrm>
            <a:off x="5650992" y="3054096"/>
            <a:ext cx="3127248" cy="347472"/>
          </a:xfrm>
          <a:prstGeom prst="rect">
            <a:avLst/>
          </a:prstGeom>
          <a:noFill/>
          <a:ln/>
        </p:spPr>
        <p:txBody>
          <a:bodyPr wrap="square" rtlCol="0" anchor="t"/>
          <a:lstStyle/>
          <a:p>
            <a:pPr marL="0" indent="0">
              <a:buNone/>
            </a:pPr>
            <a:r>
              <a:rPr lang="en-US" sz="950" dirty="0">
                <a:solidFill>
                  <a:srgbClr val="FFCCCC"/>
                </a:solidFill>
                <a:latin typeface="Arial" pitchFamily="34" charset="0"/>
                <a:ea typeface="Arial" pitchFamily="34" charset="-122"/>
                <a:cs typeface="Arial" pitchFamily="34" charset="-120"/>
              </a:rPr>
              <a:t>Challenge: Archive scrolling unusable with 500+ entries</a:t>
            </a:r>
            <a:endParaRPr lang="en-US" sz="950" dirty="0"/>
          </a:p>
        </p:txBody>
      </p:sp>
      <p:sp>
        <p:nvSpPr>
          <p:cNvPr id="39" name="Text 37"/>
          <p:cNvSpPr/>
          <p:nvPr/>
        </p:nvSpPr>
        <p:spPr>
          <a:xfrm>
            <a:off x="5650992" y="3438144"/>
            <a:ext cx="3127248" cy="384048"/>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Solution: Built year-month grid algorithm — only months with data are clickable, empty months fade out</a:t>
            </a:r>
            <a:endParaRPr lang="en-US" sz="950" dirty="0"/>
          </a:p>
        </p:txBody>
      </p:sp>
      <p:sp>
        <p:nvSpPr>
          <p:cNvPr id="40" name="Shape 38"/>
          <p:cNvSpPr/>
          <p:nvPr/>
        </p:nvSpPr>
        <p:spPr>
          <a:xfrm>
            <a:off x="5577840" y="3950208"/>
            <a:ext cx="3264408" cy="877824"/>
          </a:xfrm>
          <a:prstGeom prst="rect">
            <a:avLst/>
          </a:prstGeom>
          <a:solidFill>
            <a:srgbClr val="1E3F7A"/>
          </a:solidFill>
          <a:ln w="7620">
            <a:solidFill>
              <a:srgbClr val="FEBD01"/>
            </a:solidFill>
            <a:prstDash val="solid"/>
          </a:ln>
        </p:spPr>
      </p:sp>
      <p:sp>
        <p:nvSpPr>
          <p:cNvPr id="41" name="Text 39"/>
          <p:cNvSpPr/>
          <p:nvPr/>
        </p:nvSpPr>
        <p:spPr>
          <a:xfrm>
            <a:off x="5650992" y="4005072"/>
            <a:ext cx="3127248" cy="347472"/>
          </a:xfrm>
          <a:prstGeom prst="rect">
            <a:avLst/>
          </a:prstGeom>
          <a:noFill/>
          <a:ln/>
        </p:spPr>
        <p:txBody>
          <a:bodyPr wrap="square" rtlCol="0" anchor="t"/>
          <a:lstStyle/>
          <a:p>
            <a:pPr marL="0" indent="0">
              <a:buNone/>
            </a:pPr>
            <a:r>
              <a:rPr lang="en-US" sz="950" dirty="0">
                <a:solidFill>
                  <a:srgbClr val="FFCCCC"/>
                </a:solidFill>
                <a:latin typeface="Arial" pitchFamily="34" charset="0"/>
                <a:ea typeface="Arial" pitchFamily="34" charset="-122"/>
                <a:cs typeface="Arial" pitchFamily="34" charset="-120"/>
              </a:rPr>
              <a:t>Challenge: N+1 query problem on stats endpoint</a:t>
            </a:r>
            <a:endParaRPr lang="en-US" sz="950" dirty="0"/>
          </a:p>
        </p:txBody>
      </p:sp>
      <p:sp>
        <p:nvSpPr>
          <p:cNvPr id="42" name="Text 40"/>
          <p:cNvSpPr/>
          <p:nvPr/>
        </p:nvSpPr>
        <p:spPr>
          <a:xfrm>
            <a:off x="5650992" y="4389120"/>
            <a:ext cx="3127248" cy="384048"/>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Solution: Replaced looped per-entry queries with a single MongoDB aggregation pipeline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9282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93366"/>
          </a:solidFill>
          <a:ln w="12700">
            <a:solidFill>
              <a:srgbClr val="193366"/>
            </a:solidFill>
            <a:prstDash val="solid"/>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Future Scope &amp; Roadmap</a:t>
            </a:r>
            <a:endParaRPr lang="en-US" sz="1500" dirty="0"/>
          </a:p>
        </p:txBody>
      </p:sp>
      <p:sp>
        <p:nvSpPr>
          <p:cNvPr id="4" name="Shape 2"/>
          <p:cNvSpPr/>
          <p:nvPr/>
        </p:nvSpPr>
        <p:spPr>
          <a:xfrm>
            <a:off x="0" y="548640"/>
            <a:ext cx="9144000" cy="36576"/>
          </a:xfrm>
          <a:prstGeom prst="rect">
            <a:avLst/>
          </a:prstGeom>
          <a:solidFill>
            <a:srgbClr val="FEBD01"/>
          </a:solidFill>
          <a:ln w="12700">
            <a:solidFill>
              <a:srgbClr val="FEBD01"/>
            </a:solidFill>
            <a:prstDash val="solid"/>
          </a:ln>
        </p:spPr>
      </p:sp>
      <p:sp>
        <p:nvSpPr>
          <p:cNvPr id="5" name="Shape 3"/>
          <p:cNvSpPr/>
          <p:nvPr/>
        </p:nvSpPr>
        <p:spPr>
          <a:xfrm>
            <a:off x="0" y="4919472"/>
            <a:ext cx="9144000" cy="228600"/>
          </a:xfrm>
          <a:prstGeom prst="rect">
            <a:avLst/>
          </a:prstGeom>
          <a:solidFill>
            <a:srgbClr val="193366"/>
          </a:solidFill>
          <a:ln w="12700">
            <a:solidFill>
              <a:srgbClr val="193366"/>
            </a:solidFill>
            <a:prstDash val="solid"/>
          </a:ln>
        </p:spPr>
      </p:sp>
      <p:sp>
        <p:nvSpPr>
          <p:cNvPr id="6" name="Text 4"/>
          <p:cNvSpPr/>
          <p:nvPr/>
        </p:nvSpPr>
        <p:spPr>
          <a:xfrm>
            <a:off x="274320" y="4919472"/>
            <a:ext cx="8595360" cy="228600"/>
          </a:xfrm>
          <a:prstGeom prst="rect">
            <a:avLst/>
          </a:prstGeom>
          <a:noFill/>
          <a:ln/>
        </p:spPr>
        <p:txBody>
          <a:bodyPr wrap="square" lIns="0" tIns="0" rIns="0" bIns="0" rtlCol="0" anchor="ctr"/>
          <a:lstStyle/>
          <a:p>
            <a:pPr marL="0" indent="0">
              <a:buNone/>
            </a:pPr>
            <a:r>
              <a:rPr lang="en-US" sz="750" dirty="0">
                <a:solidFill>
                  <a:srgbClr val="8892A4"/>
                </a:solidFill>
                <a:latin typeface="Arial" pitchFamily="34" charset="0"/>
                <a:ea typeface="Arial" pitchFamily="34" charset="-122"/>
                <a:cs typeface="Arial" pitchFamily="34" charset="-120"/>
              </a:rPr>
              <a:t>Daily Journal App  |  Full Stack Web Development  |  MERN Stack</a:t>
            </a:r>
            <a:endParaRPr lang="en-US" sz="750" dirty="0"/>
          </a:p>
        </p:txBody>
      </p:sp>
      <p:sp>
        <p:nvSpPr>
          <p:cNvPr id="7" name="Shape 5"/>
          <p:cNvSpPr/>
          <p:nvPr/>
        </p:nvSpPr>
        <p:spPr>
          <a:xfrm>
            <a:off x="201168" y="749808"/>
            <a:ext cx="2834640" cy="3986784"/>
          </a:xfrm>
          <a:prstGeom prst="rect">
            <a:avLst/>
          </a:prstGeom>
          <a:solidFill>
            <a:srgbClr val="1E3F7A"/>
          </a:solidFill>
          <a:ln w="12700">
            <a:solidFill>
              <a:srgbClr val="FEBD01"/>
            </a:solidFill>
            <a:prstDash val="solid"/>
          </a:ln>
        </p:spPr>
      </p:sp>
      <p:sp>
        <p:nvSpPr>
          <p:cNvPr id="8" name="Shape 6"/>
          <p:cNvSpPr/>
          <p:nvPr/>
        </p:nvSpPr>
        <p:spPr>
          <a:xfrm>
            <a:off x="201168" y="749808"/>
            <a:ext cx="2834640" cy="384048"/>
          </a:xfrm>
          <a:prstGeom prst="rect">
            <a:avLst/>
          </a:prstGeom>
          <a:solidFill>
            <a:srgbClr val="FEBD01"/>
          </a:solidFill>
          <a:ln w="12700">
            <a:solidFill>
              <a:srgbClr val="FEBD01"/>
            </a:solidFill>
            <a:prstDash val="solid"/>
          </a:ln>
        </p:spPr>
      </p:sp>
      <p:sp>
        <p:nvSpPr>
          <p:cNvPr id="9" name="Text 7"/>
          <p:cNvSpPr/>
          <p:nvPr/>
        </p:nvSpPr>
        <p:spPr>
          <a:xfrm>
            <a:off x="292608" y="749808"/>
            <a:ext cx="2697480" cy="384048"/>
          </a:xfrm>
          <a:prstGeom prst="rect">
            <a:avLst/>
          </a:prstGeom>
          <a:noFill/>
          <a:ln/>
        </p:spPr>
        <p:txBody>
          <a:bodyPr wrap="square" lIns="0" tIns="0" rIns="0" bIns="0" rtlCol="0" anchor="ctr"/>
          <a:lstStyle/>
          <a:p>
            <a:pPr marL="0" indent="0">
              <a:buNone/>
            </a:pPr>
            <a:r>
              <a:rPr lang="en-US" sz="1100" b="1" dirty="0">
                <a:solidFill>
                  <a:srgbClr val="29282C"/>
                </a:solidFill>
                <a:latin typeface="Arial" pitchFamily="34" charset="0"/>
                <a:ea typeface="Arial" pitchFamily="34" charset="-122"/>
                <a:cs typeface="Arial" pitchFamily="34" charset="-120"/>
              </a:rPr>
              <a:t>Phase 1  ·  Near-term</a:t>
            </a:r>
            <a:endParaRPr lang="en-US" sz="1100" dirty="0"/>
          </a:p>
        </p:txBody>
      </p:sp>
      <p:sp>
        <p:nvSpPr>
          <p:cNvPr id="10" name="Text 8"/>
          <p:cNvSpPr/>
          <p:nvPr/>
        </p:nvSpPr>
        <p:spPr>
          <a:xfrm>
            <a:off x="292608" y="1207008"/>
            <a:ext cx="2697480" cy="402336"/>
          </a:xfrm>
          <a:prstGeom prst="rect">
            <a:avLst/>
          </a:prstGeom>
          <a:noFill/>
          <a:ln/>
        </p:spPr>
        <p:txBody>
          <a:bodyPr wrap="square" rtlCol="0" anchor="ctr"/>
          <a:lstStyle/>
          <a:p>
            <a:pPr marL="0" indent="0">
              <a:buNone/>
            </a:pPr>
            <a:r>
              <a:rPr lang="en-US" sz="1300" b="1" dirty="0">
                <a:solidFill>
                  <a:srgbClr val="FEBD01"/>
                </a:solidFill>
                <a:latin typeface="Arial" pitchFamily="34" charset="0"/>
                <a:ea typeface="Arial" pitchFamily="34" charset="-122"/>
                <a:cs typeface="Arial" pitchFamily="34" charset="-120"/>
              </a:rPr>
              <a:t>AI-Powered CBT Summaries</a:t>
            </a:r>
            <a:endParaRPr lang="en-US" sz="1300" dirty="0"/>
          </a:p>
        </p:txBody>
      </p:sp>
      <p:sp>
        <p:nvSpPr>
          <p:cNvPr id="11" name="Text 9"/>
          <p:cNvSpPr/>
          <p:nvPr/>
        </p:nvSpPr>
        <p:spPr>
          <a:xfrm>
            <a:off x="292608" y="1664208"/>
            <a:ext cx="2670048" cy="292608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Integrate an external LLM API (e.g. OpenAI) via a scheduled cron-job on the Node.js backend. Every Sunday, it reads the user's last 7 days of entries and auto-generates a Cognitive Behavioral Therapy (CBT) style summary — identifying mood patterns, recurring negative triggers, and positive streaks. Output displayed as a private weekly report card on the Dashboard.</a:t>
            </a:r>
            <a:endParaRPr lang="en-US" sz="950" dirty="0"/>
          </a:p>
        </p:txBody>
      </p:sp>
      <p:sp>
        <p:nvSpPr>
          <p:cNvPr id="12" name="Shape 10"/>
          <p:cNvSpPr/>
          <p:nvPr/>
        </p:nvSpPr>
        <p:spPr>
          <a:xfrm>
            <a:off x="3145536" y="749808"/>
            <a:ext cx="2834640" cy="3986784"/>
          </a:xfrm>
          <a:prstGeom prst="rect">
            <a:avLst/>
          </a:prstGeom>
          <a:solidFill>
            <a:srgbClr val="1E3F7A"/>
          </a:solidFill>
          <a:ln w="12700">
            <a:solidFill>
              <a:srgbClr val="FEBD01"/>
            </a:solidFill>
            <a:prstDash val="solid"/>
          </a:ln>
        </p:spPr>
      </p:sp>
      <p:sp>
        <p:nvSpPr>
          <p:cNvPr id="13" name="Shape 11"/>
          <p:cNvSpPr/>
          <p:nvPr/>
        </p:nvSpPr>
        <p:spPr>
          <a:xfrm>
            <a:off x="3145536" y="749808"/>
            <a:ext cx="2834640" cy="384048"/>
          </a:xfrm>
          <a:prstGeom prst="rect">
            <a:avLst/>
          </a:prstGeom>
          <a:solidFill>
            <a:srgbClr val="FEBD01"/>
          </a:solidFill>
          <a:ln w="12700">
            <a:solidFill>
              <a:srgbClr val="FEBD01"/>
            </a:solidFill>
            <a:prstDash val="solid"/>
          </a:ln>
        </p:spPr>
      </p:sp>
      <p:sp>
        <p:nvSpPr>
          <p:cNvPr id="14" name="Text 12"/>
          <p:cNvSpPr/>
          <p:nvPr/>
        </p:nvSpPr>
        <p:spPr>
          <a:xfrm>
            <a:off x="3236976" y="749808"/>
            <a:ext cx="2697480" cy="384048"/>
          </a:xfrm>
          <a:prstGeom prst="rect">
            <a:avLst/>
          </a:prstGeom>
          <a:noFill/>
          <a:ln/>
        </p:spPr>
        <p:txBody>
          <a:bodyPr wrap="square" lIns="0" tIns="0" rIns="0" bIns="0" rtlCol="0" anchor="ctr"/>
          <a:lstStyle/>
          <a:p>
            <a:pPr marL="0" indent="0">
              <a:buNone/>
            </a:pPr>
            <a:r>
              <a:rPr lang="en-US" sz="1100" b="1" dirty="0">
                <a:solidFill>
                  <a:srgbClr val="29282C"/>
                </a:solidFill>
                <a:latin typeface="Arial" pitchFamily="34" charset="0"/>
                <a:ea typeface="Arial" pitchFamily="34" charset="-122"/>
                <a:cs typeface="Arial" pitchFamily="34" charset="-120"/>
              </a:rPr>
              <a:t>Phase 2  ·  Mid-term</a:t>
            </a:r>
            <a:endParaRPr lang="en-US" sz="1100" dirty="0"/>
          </a:p>
        </p:txBody>
      </p:sp>
      <p:sp>
        <p:nvSpPr>
          <p:cNvPr id="15" name="Text 13"/>
          <p:cNvSpPr/>
          <p:nvPr/>
        </p:nvSpPr>
        <p:spPr>
          <a:xfrm>
            <a:off x="3236976" y="1207008"/>
            <a:ext cx="2697480" cy="402336"/>
          </a:xfrm>
          <a:prstGeom prst="rect">
            <a:avLst/>
          </a:prstGeom>
          <a:noFill/>
          <a:ln/>
        </p:spPr>
        <p:txBody>
          <a:bodyPr wrap="square" rtlCol="0" anchor="ctr"/>
          <a:lstStyle/>
          <a:p>
            <a:pPr marL="0" indent="0">
              <a:buNone/>
            </a:pPr>
            <a:r>
              <a:rPr lang="en-US" sz="1300" b="1" dirty="0">
                <a:solidFill>
                  <a:srgbClr val="FEBD01"/>
                </a:solidFill>
                <a:latin typeface="Arial" pitchFamily="34" charset="0"/>
                <a:ea typeface="Arial" pitchFamily="34" charset="-122"/>
                <a:cs typeface="Arial" pitchFamily="34" charset="-120"/>
              </a:rPr>
              <a:t>AWS S3 Media Attachments</a:t>
            </a:r>
            <a:endParaRPr lang="en-US" sz="1300" dirty="0"/>
          </a:p>
        </p:txBody>
      </p:sp>
      <p:sp>
        <p:nvSpPr>
          <p:cNvPr id="16" name="Text 14"/>
          <p:cNvSpPr/>
          <p:nvPr/>
        </p:nvSpPr>
        <p:spPr>
          <a:xfrm>
            <a:off x="3236976" y="1664208"/>
            <a:ext cx="2670048" cy="292608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Integrate Amazon S3 Bucket logic into the Express backend. Users will be able to attach multi-megabyte photos or audio clips to specific journal entries. The backend will generate pre-signed S3 URLs for secure direct uploads — keeping media out of MongoDB while storing only the S3 object URL in the journals collection.</a:t>
            </a:r>
            <a:endParaRPr lang="en-US" sz="950" dirty="0"/>
          </a:p>
        </p:txBody>
      </p:sp>
      <p:sp>
        <p:nvSpPr>
          <p:cNvPr id="17" name="Shape 15"/>
          <p:cNvSpPr/>
          <p:nvPr/>
        </p:nvSpPr>
        <p:spPr>
          <a:xfrm>
            <a:off x="6089904" y="749808"/>
            <a:ext cx="2834640" cy="3986784"/>
          </a:xfrm>
          <a:prstGeom prst="rect">
            <a:avLst/>
          </a:prstGeom>
          <a:solidFill>
            <a:srgbClr val="1E3F7A"/>
          </a:solidFill>
          <a:ln w="12700">
            <a:solidFill>
              <a:srgbClr val="FEBD01"/>
            </a:solidFill>
            <a:prstDash val="solid"/>
          </a:ln>
        </p:spPr>
      </p:sp>
      <p:sp>
        <p:nvSpPr>
          <p:cNvPr id="18" name="Shape 16"/>
          <p:cNvSpPr/>
          <p:nvPr/>
        </p:nvSpPr>
        <p:spPr>
          <a:xfrm>
            <a:off x="6089904" y="749808"/>
            <a:ext cx="2834640" cy="384048"/>
          </a:xfrm>
          <a:prstGeom prst="rect">
            <a:avLst/>
          </a:prstGeom>
          <a:solidFill>
            <a:srgbClr val="FEBD01"/>
          </a:solidFill>
          <a:ln w="12700">
            <a:solidFill>
              <a:srgbClr val="FEBD01"/>
            </a:solidFill>
            <a:prstDash val="solid"/>
          </a:ln>
        </p:spPr>
      </p:sp>
      <p:sp>
        <p:nvSpPr>
          <p:cNvPr id="19" name="Text 17"/>
          <p:cNvSpPr/>
          <p:nvPr/>
        </p:nvSpPr>
        <p:spPr>
          <a:xfrm>
            <a:off x="6181344" y="749808"/>
            <a:ext cx="2697480" cy="384048"/>
          </a:xfrm>
          <a:prstGeom prst="rect">
            <a:avLst/>
          </a:prstGeom>
          <a:noFill/>
          <a:ln/>
        </p:spPr>
        <p:txBody>
          <a:bodyPr wrap="square" lIns="0" tIns="0" rIns="0" bIns="0" rtlCol="0" anchor="ctr"/>
          <a:lstStyle/>
          <a:p>
            <a:pPr marL="0" indent="0">
              <a:buNone/>
            </a:pPr>
            <a:r>
              <a:rPr lang="en-US" sz="1100" b="1" dirty="0">
                <a:solidFill>
                  <a:srgbClr val="29282C"/>
                </a:solidFill>
                <a:latin typeface="Arial" pitchFamily="34" charset="0"/>
                <a:ea typeface="Arial" pitchFamily="34" charset="-122"/>
                <a:cs typeface="Arial" pitchFamily="34" charset="-120"/>
              </a:rPr>
              <a:t>Phase 3  ·  Long-term</a:t>
            </a:r>
            <a:endParaRPr lang="en-US" sz="1100" dirty="0"/>
          </a:p>
        </p:txBody>
      </p:sp>
      <p:sp>
        <p:nvSpPr>
          <p:cNvPr id="20" name="Text 18"/>
          <p:cNvSpPr/>
          <p:nvPr/>
        </p:nvSpPr>
        <p:spPr>
          <a:xfrm>
            <a:off x="6181344" y="1207008"/>
            <a:ext cx="2697480" cy="402336"/>
          </a:xfrm>
          <a:prstGeom prst="rect">
            <a:avLst/>
          </a:prstGeom>
          <a:noFill/>
          <a:ln/>
        </p:spPr>
        <p:txBody>
          <a:bodyPr wrap="square" rtlCol="0" anchor="ctr"/>
          <a:lstStyle/>
          <a:p>
            <a:pPr marL="0" indent="0">
              <a:buNone/>
            </a:pPr>
            <a:r>
              <a:rPr lang="en-US" sz="1300" b="1" dirty="0">
                <a:solidFill>
                  <a:srgbClr val="FEBD01"/>
                </a:solidFill>
                <a:latin typeface="Arial" pitchFamily="34" charset="0"/>
                <a:ea typeface="Arial" pitchFamily="34" charset="-122"/>
                <a:cs typeface="Arial" pitchFamily="34" charset="-120"/>
              </a:rPr>
              <a:t>Mobile App (React Native)</a:t>
            </a:r>
            <a:endParaRPr lang="en-US" sz="1300" dirty="0"/>
          </a:p>
        </p:txBody>
      </p:sp>
      <p:sp>
        <p:nvSpPr>
          <p:cNvPr id="21" name="Text 19"/>
          <p:cNvSpPr/>
          <p:nvPr/>
        </p:nvSpPr>
        <p:spPr>
          <a:xfrm>
            <a:off x="6181344" y="1664208"/>
            <a:ext cx="2670048" cy="2926080"/>
          </a:xfrm>
          <a:prstGeom prst="rect">
            <a:avLst/>
          </a:prstGeom>
          <a:noFill/>
          <a:ln/>
        </p:spPr>
        <p:txBody>
          <a:bodyPr wrap="square" rtlCol="0" anchor="t"/>
          <a:lstStyle/>
          <a:p>
            <a:pPr marL="0" indent="0">
              <a:buNone/>
            </a:pPr>
            <a:r>
              <a:rPr lang="en-US" sz="950" dirty="0">
                <a:solidFill>
                  <a:srgbClr val="FFFFFF"/>
                </a:solidFill>
                <a:latin typeface="Arial" pitchFamily="34" charset="0"/>
                <a:ea typeface="Arial" pitchFamily="34" charset="-122"/>
                <a:cs typeface="Arial" pitchFamily="34" charset="-120"/>
              </a:rPr>
              <a:t>The entire Express.js API backend is already mobile-ready — all endpoints are platform-agnostic REST APIs. A React Native frontend can be built to consume the same backend, giving users a native iOS/Android experience with push notifications for daily journaling reminders.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93366"/>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EBD01"/>
          </a:solidFill>
          <a:ln w="12700">
            <a:solidFill>
              <a:srgbClr val="FEBD01"/>
            </a:solidFill>
            <a:prstDash val="solid"/>
          </a:ln>
        </p:spPr>
      </p:sp>
      <p:sp>
        <p:nvSpPr>
          <p:cNvPr id="3" name="Shape 1"/>
          <p:cNvSpPr/>
          <p:nvPr/>
        </p:nvSpPr>
        <p:spPr>
          <a:xfrm>
            <a:off x="0" y="5074920"/>
            <a:ext cx="9144000" cy="73152"/>
          </a:xfrm>
          <a:prstGeom prst="rect">
            <a:avLst/>
          </a:prstGeom>
          <a:solidFill>
            <a:srgbClr val="FE4445"/>
          </a:solidFill>
          <a:ln w="12700">
            <a:solidFill>
              <a:srgbClr val="FE4445"/>
            </a:solidFill>
            <a:prstDash val="solid"/>
          </a:ln>
        </p:spPr>
      </p:sp>
      <p:sp>
        <p:nvSpPr>
          <p:cNvPr id="4" name="Shape 2"/>
          <p:cNvSpPr/>
          <p:nvPr/>
        </p:nvSpPr>
        <p:spPr>
          <a:xfrm>
            <a:off x="0" y="73152"/>
            <a:ext cx="109728" cy="5001768"/>
          </a:xfrm>
          <a:prstGeom prst="rect">
            <a:avLst/>
          </a:prstGeom>
          <a:solidFill>
            <a:srgbClr val="FEBD01"/>
          </a:solidFill>
          <a:ln w="12700">
            <a:solidFill>
              <a:srgbClr val="FEBD01"/>
            </a:solidFill>
            <a:prstDash val="solid"/>
          </a:ln>
        </p:spPr>
      </p:sp>
      <p:sp>
        <p:nvSpPr>
          <p:cNvPr id="5" name="Text 3"/>
          <p:cNvSpPr/>
          <p:nvPr/>
        </p:nvSpPr>
        <p:spPr>
          <a:xfrm>
            <a:off x="365760" y="256032"/>
            <a:ext cx="8503920" cy="54864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Conclusion</a:t>
            </a:r>
            <a:endParaRPr lang="en-US" sz="2800" dirty="0"/>
          </a:p>
        </p:txBody>
      </p:sp>
      <p:sp>
        <p:nvSpPr>
          <p:cNvPr id="6" name="Shape 4"/>
          <p:cNvSpPr/>
          <p:nvPr/>
        </p:nvSpPr>
        <p:spPr>
          <a:xfrm>
            <a:off x="365760" y="868680"/>
            <a:ext cx="8412480" cy="0"/>
          </a:xfrm>
          <a:prstGeom prst="line">
            <a:avLst/>
          </a:prstGeom>
          <a:noFill/>
          <a:ln w="12700">
            <a:solidFill>
              <a:srgbClr val="FEBD01"/>
            </a:solidFill>
            <a:prstDash val="solid"/>
          </a:ln>
        </p:spPr>
      </p:sp>
      <p:sp>
        <p:nvSpPr>
          <p:cNvPr id="7" name="Text 5"/>
          <p:cNvSpPr/>
          <p:nvPr/>
        </p:nvSpPr>
        <p:spPr>
          <a:xfrm>
            <a:off x="365760" y="987552"/>
            <a:ext cx="8503920" cy="475488"/>
          </a:xfrm>
          <a:prstGeom prst="rect">
            <a:avLst/>
          </a:prstGeom>
          <a:noFill/>
          <a:ln/>
        </p:spPr>
        <p:txBody>
          <a:bodyPr wrap="square" rtlCol="0" anchor="ctr"/>
          <a:lstStyle/>
          <a:p>
            <a:pPr marL="0" indent="0">
              <a:buNone/>
            </a:pPr>
            <a:r>
              <a:rPr lang="en-US" sz="1200" dirty="0">
                <a:solidFill>
                  <a:srgbClr val="FFFFFF"/>
                </a:solidFill>
                <a:latin typeface="Arial" pitchFamily="34" charset="0"/>
                <a:ea typeface="Arial" pitchFamily="34" charset="-122"/>
                <a:cs typeface="Arial" pitchFamily="34" charset="-120"/>
              </a:rPr>
              <a:t>This project demonstrates end-to-end full-stack engineering competency across security, algorithm design, database modeling, and modern React development.</a:t>
            </a:r>
            <a:endParaRPr lang="en-US" sz="1200" dirty="0"/>
          </a:p>
        </p:txBody>
      </p:sp>
      <p:sp>
        <p:nvSpPr>
          <p:cNvPr id="8" name="Shape 6"/>
          <p:cNvSpPr/>
          <p:nvPr/>
        </p:nvSpPr>
        <p:spPr>
          <a:xfrm>
            <a:off x="365760" y="1536192"/>
            <a:ext cx="2743200" cy="932688"/>
          </a:xfrm>
          <a:prstGeom prst="rect">
            <a:avLst/>
          </a:prstGeom>
          <a:solidFill>
            <a:srgbClr val="1E3F7A"/>
          </a:solidFill>
          <a:ln w="10160">
            <a:solidFill>
              <a:srgbClr val="FEBD01"/>
            </a:solidFill>
            <a:prstDash val="solid"/>
          </a:ln>
        </p:spPr>
      </p:sp>
      <p:sp>
        <p:nvSpPr>
          <p:cNvPr id="9" name="Shape 7"/>
          <p:cNvSpPr/>
          <p:nvPr/>
        </p:nvSpPr>
        <p:spPr>
          <a:xfrm>
            <a:off x="365760" y="1536192"/>
            <a:ext cx="54864" cy="932688"/>
          </a:xfrm>
          <a:prstGeom prst="rect">
            <a:avLst/>
          </a:prstGeom>
          <a:solidFill>
            <a:srgbClr val="FEBD01"/>
          </a:solidFill>
          <a:ln w="12700">
            <a:solidFill>
              <a:srgbClr val="FEBD01"/>
            </a:solidFill>
            <a:prstDash val="solid"/>
          </a:ln>
        </p:spPr>
      </p:sp>
      <p:sp>
        <p:nvSpPr>
          <p:cNvPr id="10" name="Text 8"/>
          <p:cNvSpPr/>
          <p:nvPr/>
        </p:nvSpPr>
        <p:spPr>
          <a:xfrm>
            <a:off x="493776" y="1609344"/>
            <a:ext cx="2560320" cy="237744"/>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Backend Engineering</a:t>
            </a:r>
            <a:endParaRPr lang="en-US" sz="1050" dirty="0"/>
          </a:p>
        </p:txBody>
      </p:sp>
      <p:sp>
        <p:nvSpPr>
          <p:cNvPr id="11" name="Text 9"/>
          <p:cNvSpPr/>
          <p:nvPr/>
        </p:nvSpPr>
        <p:spPr>
          <a:xfrm>
            <a:off x="493776" y="1865376"/>
            <a:ext cx="2560320" cy="548640"/>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RESTful API design, Express middleware chain, async Node.js, JWT auth, BCrypt hashing</a:t>
            </a:r>
            <a:endParaRPr lang="en-US" sz="900" dirty="0"/>
          </a:p>
        </p:txBody>
      </p:sp>
      <p:sp>
        <p:nvSpPr>
          <p:cNvPr id="12" name="Shape 10"/>
          <p:cNvSpPr/>
          <p:nvPr/>
        </p:nvSpPr>
        <p:spPr>
          <a:xfrm>
            <a:off x="3218688" y="1536192"/>
            <a:ext cx="2743200" cy="932688"/>
          </a:xfrm>
          <a:prstGeom prst="rect">
            <a:avLst/>
          </a:prstGeom>
          <a:solidFill>
            <a:srgbClr val="1E3F7A"/>
          </a:solidFill>
          <a:ln w="10160">
            <a:solidFill>
              <a:srgbClr val="FEBD01"/>
            </a:solidFill>
            <a:prstDash val="solid"/>
          </a:ln>
        </p:spPr>
      </p:sp>
      <p:sp>
        <p:nvSpPr>
          <p:cNvPr id="13" name="Shape 11"/>
          <p:cNvSpPr/>
          <p:nvPr/>
        </p:nvSpPr>
        <p:spPr>
          <a:xfrm>
            <a:off x="3218688" y="1536192"/>
            <a:ext cx="54864" cy="932688"/>
          </a:xfrm>
          <a:prstGeom prst="rect">
            <a:avLst/>
          </a:prstGeom>
          <a:solidFill>
            <a:srgbClr val="FEBD01"/>
          </a:solidFill>
          <a:ln w="12700">
            <a:solidFill>
              <a:srgbClr val="FEBD01"/>
            </a:solidFill>
            <a:prstDash val="solid"/>
          </a:ln>
        </p:spPr>
      </p:sp>
      <p:sp>
        <p:nvSpPr>
          <p:cNvPr id="14" name="Text 12"/>
          <p:cNvSpPr/>
          <p:nvPr/>
        </p:nvSpPr>
        <p:spPr>
          <a:xfrm>
            <a:off x="3346704" y="1609344"/>
            <a:ext cx="2560320" cy="237744"/>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Frontend Development</a:t>
            </a:r>
            <a:endParaRPr lang="en-US" sz="1050" dirty="0"/>
          </a:p>
        </p:txBody>
      </p:sp>
      <p:sp>
        <p:nvSpPr>
          <p:cNvPr id="15" name="Text 13"/>
          <p:cNvSpPr/>
          <p:nvPr/>
        </p:nvSpPr>
        <p:spPr>
          <a:xfrm>
            <a:off x="3346704" y="1865376"/>
            <a:ext cx="2560320" cy="548640"/>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React SPA, Virtual DOM, useState, useContext, React Router, Axios Interceptors</a:t>
            </a:r>
            <a:endParaRPr lang="en-US" sz="900" dirty="0"/>
          </a:p>
        </p:txBody>
      </p:sp>
      <p:sp>
        <p:nvSpPr>
          <p:cNvPr id="16" name="Shape 14"/>
          <p:cNvSpPr/>
          <p:nvPr/>
        </p:nvSpPr>
        <p:spPr>
          <a:xfrm>
            <a:off x="6071616" y="1536192"/>
            <a:ext cx="2743200" cy="932688"/>
          </a:xfrm>
          <a:prstGeom prst="rect">
            <a:avLst/>
          </a:prstGeom>
          <a:solidFill>
            <a:srgbClr val="1E3F7A"/>
          </a:solidFill>
          <a:ln w="10160">
            <a:solidFill>
              <a:srgbClr val="FEBD01"/>
            </a:solidFill>
            <a:prstDash val="solid"/>
          </a:ln>
        </p:spPr>
      </p:sp>
      <p:sp>
        <p:nvSpPr>
          <p:cNvPr id="17" name="Shape 15"/>
          <p:cNvSpPr/>
          <p:nvPr/>
        </p:nvSpPr>
        <p:spPr>
          <a:xfrm>
            <a:off x="6071616" y="1536192"/>
            <a:ext cx="54864" cy="932688"/>
          </a:xfrm>
          <a:prstGeom prst="rect">
            <a:avLst/>
          </a:prstGeom>
          <a:solidFill>
            <a:srgbClr val="FEBD01"/>
          </a:solidFill>
          <a:ln w="12700">
            <a:solidFill>
              <a:srgbClr val="FEBD01"/>
            </a:solidFill>
            <a:prstDash val="solid"/>
          </a:ln>
        </p:spPr>
      </p:sp>
      <p:sp>
        <p:nvSpPr>
          <p:cNvPr id="18" name="Text 16"/>
          <p:cNvSpPr/>
          <p:nvPr/>
        </p:nvSpPr>
        <p:spPr>
          <a:xfrm>
            <a:off x="6199632" y="1609344"/>
            <a:ext cx="2560320" cy="237744"/>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Database Design</a:t>
            </a:r>
            <a:endParaRPr lang="en-US" sz="1050" dirty="0"/>
          </a:p>
        </p:txBody>
      </p:sp>
      <p:sp>
        <p:nvSpPr>
          <p:cNvPr id="19" name="Text 17"/>
          <p:cNvSpPr/>
          <p:nvPr/>
        </p:nvSpPr>
        <p:spPr>
          <a:xfrm>
            <a:off x="6199632" y="1865376"/>
            <a:ext cx="2560320" cy="548640"/>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NoSQL schema design, 1-to-N relationships, Mongoose validation, aggregation pipelines</a:t>
            </a:r>
            <a:endParaRPr lang="en-US" sz="900" dirty="0"/>
          </a:p>
        </p:txBody>
      </p:sp>
      <p:sp>
        <p:nvSpPr>
          <p:cNvPr id="20" name="Shape 18"/>
          <p:cNvSpPr/>
          <p:nvPr/>
        </p:nvSpPr>
        <p:spPr>
          <a:xfrm>
            <a:off x="365760" y="2560320"/>
            <a:ext cx="2743200" cy="932688"/>
          </a:xfrm>
          <a:prstGeom prst="rect">
            <a:avLst/>
          </a:prstGeom>
          <a:solidFill>
            <a:srgbClr val="1E3F7A"/>
          </a:solidFill>
          <a:ln w="10160">
            <a:solidFill>
              <a:srgbClr val="FEBD01"/>
            </a:solidFill>
            <a:prstDash val="solid"/>
          </a:ln>
        </p:spPr>
      </p:sp>
      <p:sp>
        <p:nvSpPr>
          <p:cNvPr id="21" name="Shape 19"/>
          <p:cNvSpPr/>
          <p:nvPr/>
        </p:nvSpPr>
        <p:spPr>
          <a:xfrm>
            <a:off x="365760" y="2560320"/>
            <a:ext cx="54864" cy="932688"/>
          </a:xfrm>
          <a:prstGeom prst="rect">
            <a:avLst/>
          </a:prstGeom>
          <a:solidFill>
            <a:srgbClr val="FEBD01"/>
          </a:solidFill>
          <a:ln w="12700">
            <a:solidFill>
              <a:srgbClr val="FEBD01"/>
            </a:solidFill>
            <a:prstDash val="solid"/>
          </a:ln>
        </p:spPr>
      </p:sp>
      <p:sp>
        <p:nvSpPr>
          <p:cNvPr id="22" name="Text 20"/>
          <p:cNvSpPr/>
          <p:nvPr/>
        </p:nvSpPr>
        <p:spPr>
          <a:xfrm>
            <a:off x="493776" y="2633472"/>
            <a:ext cx="2560320" cy="237744"/>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Security Implementation</a:t>
            </a:r>
            <a:endParaRPr lang="en-US" sz="1050" dirty="0"/>
          </a:p>
        </p:txBody>
      </p:sp>
      <p:sp>
        <p:nvSpPr>
          <p:cNvPr id="23" name="Text 21"/>
          <p:cNvSpPr/>
          <p:nvPr/>
        </p:nvSpPr>
        <p:spPr>
          <a:xfrm>
            <a:off x="493776" y="2889504"/>
            <a:ext cx="2560320" cy="548640"/>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Stateless JWT sessions, BCrypt one-way hashing, HTTP error code handling, .env secrets</a:t>
            </a:r>
            <a:endParaRPr lang="en-US" sz="900" dirty="0"/>
          </a:p>
        </p:txBody>
      </p:sp>
      <p:sp>
        <p:nvSpPr>
          <p:cNvPr id="24" name="Shape 22"/>
          <p:cNvSpPr/>
          <p:nvPr/>
        </p:nvSpPr>
        <p:spPr>
          <a:xfrm>
            <a:off x="3218688" y="2560320"/>
            <a:ext cx="2743200" cy="932688"/>
          </a:xfrm>
          <a:prstGeom prst="rect">
            <a:avLst/>
          </a:prstGeom>
          <a:solidFill>
            <a:srgbClr val="1E3F7A"/>
          </a:solidFill>
          <a:ln w="10160">
            <a:solidFill>
              <a:srgbClr val="FEBD01"/>
            </a:solidFill>
            <a:prstDash val="solid"/>
          </a:ln>
        </p:spPr>
      </p:sp>
      <p:sp>
        <p:nvSpPr>
          <p:cNvPr id="25" name="Shape 23"/>
          <p:cNvSpPr/>
          <p:nvPr/>
        </p:nvSpPr>
        <p:spPr>
          <a:xfrm>
            <a:off x="3218688" y="2560320"/>
            <a:ext cx="54864" cy="932688"/>
          </a:xfrm>
          <a:prstGeom prst="rect">
            <a:avLst/>
          </a:prstGeom>
          <a:solidFill>
            <a:srgbClr val="FEBD01"/>
          </a:solidFill>
          <a:ln w="12700">
            <a:solidFill>
              <a:srgbClr val="FEBD01"/>
            </a:solidFill>
            <a:prstDash val="solid"/>
          </a:ln>
        </p:spPr>
      </p:sp>
      <p:sp>
        <p:nvSpPr>
          <p:cNvPr id="26" name="Text 24"/>
          <p:cNvSpPr/>
          <p:nvPr/>
        </p:nvSpPr>
        <p:spPr>
          <a:xfrm>
            <a:off x="3346704" y="2633472"/>
            <a:ext cx="2560320" cy="237744"/>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Algorithm Design</a:t>
            </a:r>
            <a:endParaRPr lang="en-US" sz="1050" dirty="0"/>
          </a:p>
        </p:txBody>
      </p:sp>
      <p:sp>
        <p:nvSpPr>
          <p:cNvPr id="27" name="Text 25"/>
          <p:cNvSpPr/>
          <p:nvPr/>
        </p:nvSpPr>
        <p:spPr>
          <a:xfrm>
            <a:off x="3346704" y="2889504"/>
            <a:ext cx="2560320" cy="548640"/>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Archive Matrix (ISO parsing), Word Count aggregation, Mood Frequency hashmap, O(n) loops</a:t>
            </a:r>
            <a:endParaRPr lang="en-US" sz="900" dirty="0"/>
          </a:p>
        </p:txBody>
      </p:sp>
      <p:sp>
        <p:nvSpPr>
          <p:cNvPr id="28" name="Shape 26"/>
          <p:cNvSpPr/>
          <p:nvPr/>
        </p:nvSpPr>
        <p:spPr>
          <a:xfrm>
            <a:off x="6071616" y="2560320"/>
            <a:ext cx="2743200" cy="932688"/>
          </a:xfrm>
          <a:prstGeom prst="rect">
            <a:avLst/>
          </a:prstGeom>
          <a:solidFill>
            <a:srgbClr val="1E3F7A"/>
          </a:solidFill>
          <a:ln w="10160">
            <a:solidFill>
              <a:srgbClr val="FEBD01"/>
            </a:solidFill>
            <a:prstDash val="solid"/>
          </a:ln>
        </p:spPr>
      </p:sp>
      <p:sp>
        <p:nvSpPr>
          <p:cNvPr id="29" name="Shape 27"/>
          <p:cNvSpPr/>
          <p:nvPr/>
        </p:nvSpPr>
        <p:spPr>
          <a:xfrm>
            <a:off x="6071616" y="2560320"/>
            <a:ext cx="54864" cy="932688"/>
          </a:xfrm>
          <a:prstGeom prst="rect">
            <a:avLst/>
          </a:prstGeom>
          <a:solidFill>
            <a:srgbClr val="FEBD01"/>
          </a:solidFill>
          <a:ln w="12700">
            <a:solidFill>
              <a:srgbClr val="FEBD01"/>
            </a:solidFill>
            <a:prstDash val="solid"/>
          </a:ln>
        </p:spPr>
      </p:sp>
      <p:sp>
        <p:nvSpPr>
          <p:cNvPr id="30" name="Text 28"/>
          <p:cNvSpPr/>
          <p:nvPr/>
        </p:nvSpPr>
        <p:spPr>
          <a:xfrm>
            <a:off x="6199632" y="2633472"/>
            <a:ext cx="2560320" cy="237744"/>
          </a:xfrm>
          <a:prstGeom prst="rect">
            <a:avLst/>
          </a:prstGeom>
          <a:noFill/>
          <a:ln/>
        </p:spPr>
        <p:txBody>
          <a:bodyPr wrap="square" rtlCol="0" anchor="ctr"/>
          <a:lstStyle/>
          <a:p>
            <a:pPr marL="0" indent="0">
              <a:buNone/>
            </a:pPr>
            <a:r>
              <a:rPr lang="en-US" sz="1050" b="1" dirty="0">
                <a:solidFill>
                  <a:srgbClr val="FEBD01"/>
                </a:solidFill>
                <a:latin typeface="Arial" pitchFamily="34" charset="0"/>
                <a:ea typeface="Arial" pitchFamily="34" charset="-122"/>
                <a:cs typeface="Arial" pitchFamily="34" charset="-120"/>
              </a:rPr>
              <a:t>UI/UX Engineering</a:t>
            </a:r>
            <a:endParaRPr lang="en-US" sz="1050" dirty="0"/>
          </a:p>
        </p:txBody>
      </p:sp>
      <p:sp>
        <p:nvSpPr>
          <p:cNvPr id="31" name="Text 29"/>
          <p:cNvSpPr/>
          <p:nvPr/>
        </p:nvSpPr>
        <p:spPr>
          <a:xfrm>
            <a:off x="6199632" y="2889504"/>
            <a:ext cx="2560320" cy="548640"/>
          </a:xfrm>
          <a:prstGeom prst="rect">
            <a:avLst/>
          </a:prstGeom>
          <a:noFill/>
          <a:ln/>
        </p:spPr>
        <p:txBody>
          <a:bodyPr wrap="square" rtlCol="0" anchor="t"/>
          <a:lstStyle/>
          <a:p>
            <a:pPr marL="0" indent="0">
              <a:buNone/>
            </a:pPr>
            <a:r>
              <a:rPr lang="en-US" sz="900" dirty="0">
                <a:solidFill>
                  <a:srgbClr val="FFFFFF"/>
                </a:solidFill>
                <a:latin typeface="Arial" pitchFamily="34" charset="0"/>
                <a:ea typeface="Arial" pitchFamily="34" charset="-122"/>
                <a:cs typeface="Arial" pitchFamily="34" charset="-120"/>
              </a:rPr>
              <a:t>Responsive SPA, CSS variable theming, pill component arrays, zero-reload navigation</a:t>
            </a:r>
            <a:endParaRPr lang="en-US" sz="900" dirty="0"/>
          </a:p>
        </p:txBody>
      </p:sp>
      <p:sp>
        <p:nvSpPr>
          <p:cNvPr id="32" name="Shape 30"/>
          <p:cNvSpPr/>
          <p:nvPr/>
        </p:nvSpPr>
        <p:spPr>
          <a:xfrm>
            <a:off x="365760" y="4462272"/>
            <a:ext cx="8503920" cy="475488"/>
          </a:xfrm>
          <a:prstGeom prst="rect">
            <a:avLst/>
          </a:prstGeom>
          <a:solidFill>
            <a:srgbClr val="1B3A6E"/>
          </a:solidFill>
          <a:ln w="12700">
            <a:solidFill>
              <a:srgbClr val="FEBD01"/>
            </a:solidFill>
            <a:prstDash val="solid"/>
          </a:ln>
        </p:spPr>
      </p:sp>
      <p:sp>
        <p:nvSpPr>
          <p:cNvPr id="33" name="Text 31"/>
          <p:cNvSpPr/>
          <p:nvPr/>
        </p:nvSpPr>
        <p:spPr>
          <a:xfrm>
            <a:off x="457200" y="4462272"/>
            <a:ext cx="8321040" cy="475488"/>
          </a:xfrm>
          <a:prstGeom prst="rect">
            <a:avLst/>
          </a:prstGeom>
          <a:noFill/>
          <a:ln/>
        </p:spPr>
        <p:txBody>
          <a:bodyPr wrap="square" rtlCol="0" anchor="ctr"/>
          <a:lstStyle/>
          <a:p>
            <a:pPr marL="0" indent="0" algn="ctr">
              <a:buNone/>
            </a:pPr>
            <a:r>
              <a:rPr lang="en-US" sz="1100" dirty="0">
                <a:solidFill>
                  <a:srgbClr val="FEBD01"/>
                </a:solidFill>
                <a:latin typeface="Arial" pitchFamily="34" charset="0"/>
                <a:ea typeface="Arial" pitchFamily="34" charset="-122"/>
                <a:cs typeface="Arial" pitchFamily="34" charset="-120"/>
              </a:rPr>
              <a:t>Thank You  ·  Questions Welcome  ·  Daily Journal App — MERN Stack  |  BCA Final Year Project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2334</Words>
  <Application>Microsoft Office PowerPoint</Application>
  <PresentationFormat>On-screen Show (16:9)</PresentationFormat>
  <Paragraphs>302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ASUS</cp:lastModifiedBy>
  <cp:revision>3</cp:revision>
  <dcterms:created xsi:type="dcterms:W3CDTF">2026-03-27T10:51:48Z</dcterms:created>
  <dcterms:modified xsi:type="dcterms:W3CDTF">2026-03-27T11:49:58Z</dcterms:modified>
</cp:coreProperties>
</file>